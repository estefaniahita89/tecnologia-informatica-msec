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  <p:sldMasterId id="2147484159" r:id="rId5"/>
  </p:sldMasterIdLst>
  <p:notesMasterIdLst>
    <p:notesMasterId r:id="rId24"/>
  </p:notesMasterIdLst>
  <p:handoutMasterIdLst>
    <p:handoutMasterId r:id="rId25"/>
  </p:handoutMasterIdLst>
  <p:sldIdLst>
    <p:sldId id="1662" r:id="rId6"/>
    <p:sldId id="2138" r:id="rId7"/>
    <p:sldId id="2130" r:id="rId8"/>
    <p:sldId id="2146" r:id="rId9"/>
    <p:sldId id="257" r:id="rId10"/>
    <p:sldId id="2123" r:id="rId11"/>
    <p:sldId id="2151" r:id="rId12"/>
    <p:sldId id="2124" r:id="rId13"/>
    <p:sldId id="2152" r:id="rId14"/>
    <p:sldId id="2153" r:id="rId15"/>
    <p:sldId id="2143" r:id="rId16"/>
    <p:sldId id="2144" r:id="rId17"/>
    <p:sldId id="2125" r:id="rId18"/>
    <p:sldId id="2131" r:id="rId19"/>
    <p:sldId id="2122" r:id="rId20"/>
    <p:sldId id="2134" r:id="rId21"/>
    <p:sldId id="2098" r:id="rId22"/>
    <p:sldId id="1708" r:id="rId23"/>
  </p:sldIdLst>
  <p:sldSz cx="18288000" cy="10287000"/>
  <p:notesSz cx="6797675" cy="9926638"/>
  <p:defaultTextStyle>
    <a:defPPr>
      <a:defRPr lang="uk-UA"/>
    </a:defPPr>
    <a:lvl1pPr marL="0" algn="l" defTabSz="137140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703" algn="l" defTabSz="137140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408" algn="l" defTabSz="137140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112" algn="l" defTabSz="137140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2815" algn="l" defTabSz="137140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8518" algn="l" defTabSz="137140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223" algn="l" defTabSz="137140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799927" algn="l" defTabSz="137140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5630" algn="l" defTabSz="137140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7FDFD4A-FD08-A244-B5D3-40BFCDB6F4D9}" name="Victoria Iñigo Mendoza" initials="VI" userId="S::victoria.inigo@unir.net::4669156f-4400-4bd3-a844-31eca170a7a2" providerId="AD"/>
  <p188:author id="{5AFBA9F2-3EFF-376C-481D-66933310FCE8}" name="Rosa Gómez Del Amo" initials="RG" userId="S::rosa.gomez@unir.net::e16f6d44-50d9-493e-b173-898f2017864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pita Arrese Alcala" initials="LAA" lastIdx="16" clrIdx="0">
    <p:extLst>
      <p:ext uri="{19B8F6BF-5375-455C-9EA6-DF929625EA0E}">
        <p15:presenceInfo xmlns:p15="http://schemas.microsoft.com/office/powerpoint/2012/main" userId="S::guadalupe.arrese@unir.net::5295aace-4395-40a7-a025-c70ccf4df876" providerId="AD"/>
      </p:ext>
    </p:extLst>
  </p:cmAuthor>
  <p:cmAuthor id="2" name="oe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D7"/>
    <a:srgbClr val="000000"/>
    <a:srgbClr val="23AAD5"/>
    <a:srgbClr val="FFD9A5"/>
    <a:srgbClr val="AAC42C"/>
    <a:srgbClr val="4A879B"/>
    <a:srgbClr val="64D4EA"/>
    <a:srgbClr val="4CCCE6"/>
    <a:srgbClr val="6CD5EA"/>
    <a:srgbClr val="2BC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/>
    <p:restoredTop sz="94694"/>
  </p:normalViewPr>
  <p:slideViewPr>
    <p:cSldViewPr snapToGrid="0">
      <p:cViewPr varScale="1">
        <p:scale>
          <a:sx n="61" d="100"/>
          <a:sy n="61" d="100"/>
        </p:scale>
        <p:origin x="432" y="7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efanía Hita Egea" userId="87d98d9c-67eb-40d1-bec5-830ba3a13482" providerId="ADAL" clId="{08FC9A1B-AB94-402B-80B0-7C69BBD1FB08}"/>
    <pc:docChg chg="delSld">
      <pc:chgData name="Estefanía Hita Egea" userId="87d98d9c-67eb-40d1-bec5-830ba3a13482" providerId="ADAL" clId="{08FC9A1B-AB94-402B-80B0-7C69BBD1FB08}" dt="2026-09-13T18:38:28.297" v="0" actId="47"/>
      <pc:docMkLst>
        <pc:docMk/>
      </pc:docMkLst>
      <pc:sldChg chg="del">
        <pc:chgData name="Estefanía Hita Egea" userId="87d98d9c-67eb-40d1-bec5-830ba3a13482" providerId="ADAL" clId="{08FC9A1B-AB94-402B-80B0-7C69BBD1FB08}" dt="2026-09-13T18:38:28.297" v="0" actId="47"/>
        <pc:sldMkLst>
          <pc:docMk/>
          <pc:sldMk cId="1810965961" sldId="215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89885F8-C355-2147-8318-7333A4231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E299E58-787B-5D4C-92EA-8D7E3606DD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B9537-7435-F74F-B373-A022309B6EFF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1D625A-6129-F448-B224-0F64E7A194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F683DC-E193-E54E-95A9-80E5B881A0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BBADE-8039-BC41-8198-B12D6DA6C1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88600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27185-10FB-4A57-B3F0-45136A811A24}" type="datetimeFigureOut">
              <a:rPr lang="uk-UA" smtClean="0"/>
              <a:t>13.09.2026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C3A12-1E0F-412B-B376-8089A55D946C}" type="slidenum">
              <a:rPr lang="uk-UA" smtClean="0"/>
              <a:t>‹Nº›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7216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2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08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43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0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15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52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87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3BB2E421-E8F4-37BB-15DD-7AAFF8514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26bfd67fdd_0_25:notes">
            <a:extLst>
              <a:ext uri="{FF2B5EF4-FFF2-40B4-BE49-F238E27FC236}">
                <a16:creationId xmlns:a16="http://schemas.microsoft.com/office/drawing/2014/main" id="{9DAA2AA1-2147-2ED2-01BF-0E6EACF4C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err="1"/>
              <a:t>ç</a:t>
            </a:r>
            <a:endParaRPr/>
          </a:p>
        </p:txBody>
      </p:sp>
      <p:sp>
        <p:nvSpPr>
          <p:cNvPr id="484" name="Google Shape;484;g126bfd67fdd_0_25:notes">
            <a:extLst>
              <a:ext uri="{FF2B5EF4-FFF2-40B4-BE49-F238E27FC236}">
                <a16:creationId xmlns:a16="http://schemas.microsoft.com/office/drawing/2014/main" id="{76A1F597-1661-6D58-0788-11404A9172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7868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78172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a230113291_0_817:notes"/>
          <p:cNvSpPr txBox="1">
            <a:spLocks noGrp="1"/>
          </p:cNvSpPr>
          <p:nvPr>
            <p:ph type="body" idx="1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a230113291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2522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a230113291_0_817:notes"/>
          <p:cNvSpPr txBox="1">
            <a:spLocks noGrp="1"/>
          </p:cNvSpPr>
          <p:nvPr>
            <p:ph type="body" idx="1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a230113291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3458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B022E-1D2A-ED49-2390-4CC0296C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AA7DFC4-05FC-D53B-FAAA-41C7387AF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F4E103E-775A-8CD7-45FC-6811EB91D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7C92C2-F397-0B1D-F664-1D5324B80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5036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a230113291_0_817:notes"/>
          <p:cNvSpPr txBox="1">
            <a:spLocks noGrp="1"/>
          </p:cNvSpPr>
          <p:nvPr>
            <p:ph type="body" idx="1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a230113291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6846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a230113291_0_817:notes"/>
          <p:cNvSpPr txBox="1">
            <a:spLocks noGrp="1"/>
          </p:cNvSpPr>
          <p:nvPr>
            <p:ph type="body" idx="1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a230113291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6104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7407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a230113291_0_817:notes"/>
          <p:cNvSpPr txBox="1">
            <a:spLocks noGrp="1"/>
          </p:cNvSpPr>
          <p:nvPr>
            <p:ph type="body" idx="1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a230113291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0613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5883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-SLIDE OPT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s-ES_tradnl" noProof="0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2400300"/>
            <a:ext cx="9144000" cy="5486400"/>
          </a:xfrm>
          <a:prstGeom prst="rect">
            <a:avLst/>
          </a:prstGeom>
        </p:spPr>
        <p:txBody>
          <a:bodyPr lIns="91428" tIns="45713" rIns="91428" bIns="45713"/>
          <a:lstStyle/>
          <a:p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08934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s-ES_tradnl" noProof="0" err="1"/>
              <a:t>click</a:t>
            </a:r>
            <a:r>
              <a:rPr lang="es-ES_tradnl" noProof="0"/>
              <a:t> to </a:t>
            </a:r>
            <a:r>
              <a:rPr lang="es-ES_tradnl" noProof="0" err="1"/>
              <a:t>edit</a:t>
            </a:r>
            <a:r>
              <a:rPr lang="es-ES_tradnl" noProof="0"/>
              <a:t> master </a:t>
            </a:r>
            <a:r>
              <a:rPr lang="es-ES_tradnl" noProof="0" err="1"/>
              <a:t>title</a:t>
            </a:r>
            <a:r>
              <a:rPr lang="es-ES_tradnl" noProof="0"/>
              <a:t> </a:t>
            </a:r>
            <a:r>
              <a:rPr lang="es-ES_tradnl" noProof="0" err="1"/>
              <a:t>style</a:t>
            </a:r>
            <a:endParaRPr lang="es-ES_tradnl" noProof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532888" y="2587752"/>
            <a:ext cx="2706624" cy="2706624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33029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s-ES_tradnl" noProof="0"/>
              <a:t>click to edit master title style</a:t>
            </a:r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3337560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  <p:sp>
        <p:nvSpPr>
          <p:cNvPr id="10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3337560" y="5980176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9811512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811512" y="5981700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3346357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s-ES_tradnl" noProof="0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22860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22860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22860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1148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1148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59436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59436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59436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389733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F94AB5-3C67-B642-952B-7BC2E89DD7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1" y="9277352"/>
            <a:ext cx="3157538" cy="74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3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s-ES_tradnl" noProof="0"/>
              <a:t>click to edit master 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98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1_DEFAULT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76300" y="571412"/>
            <a:ext cx="5448600" cy="1322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75" tIns="45350" rIns="90775" bIns="453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9BC3"/>
              </a:buClr>
              <a:buSzPts val="4400"/>
              <a:buFont typeface="Libre Franklin"/>
              <a:buNone/>
              <a:defRPr sz="4400" b="1" i="0" u="none" strike="noStrike" cap="none">
                <a:solidFill>
                  <a:srgbClr val="219BC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56" name="Google Shape;56;p14"/>
          <p:cNvCxnSpPr/>
          <p:nvPr/>
        </p:nvCxnSpPr>
        <p:spPr>
          <a:xfrm>
            <a:off x="704850" y="685800"/>
            <a:ext cx="0" cy="1028455"/>
          </a:xfrm>
          <a:prstGeom prst="straightConnector1">
            <a:avLst/>
          </a:prstGeom>
          <a:noFill/>
          <a:ln w="635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007559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66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tiff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16744950" y="9186986"/>
            <a:ext cx="0" cy="74295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7092798" y="9072686"/>
            <a:ext cx="1733550" cy="923316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2700" b="1" smtClean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s-ES_tradnl" noProof="0" err="1"/>
              <a:t>Pag</a:t>
            </a:r>
            <a:r>
              <a:rPr lang="es-ES_tradnl" noProof="0"/>
              <a:t>.</a:t>
            </a:r>
          </a:p>
          <a:p>
            <a:fld id="{37D409AB-2201-4E18-8A34-C31753AD9B06}" type="slidenum">
              <a:rPr lang="es-ES_tradnl" noProof="0" smtClean="0"/>
              <a:pPr/>
              <a:t>‹Nº›</a:t>
            </a:fld>
            <a:endParaRPr lang="es-ES_tradnl" noProof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05886D0-C369-6E4B-8404-E196C54E4AA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85801" y="9277352"/>
            <a:ext cx="3157538" cy="74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0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09" r:id="rId2"/>
    <p:sldLayoutId id="2147483713" r:id="rId3"/>
    <p:sldLayoutId id="2147483676" r:id="rId4"/>
    <p:sldLayoutId id="2147483786" r:id="rId5"/>
    <p:sldLayoutId id="2147483787" r:id="rId6"/>
    <p:sldLayoutId id="2147484161" r:id="rId7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txStyles>
    <p:titleStyle>
      <a:lvl1pPr algn="l" defTabSz="1371408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1371408" rtl="0" eaLnBrk="1" fontAlgn="auto" latinLnBrk="0" hangingPunct="1">
        <a:lnSpc>
          <a:spcPct val="90000"/>
        </a:lnSpc>
        <a:spcBef>
          <a:spcPts val="1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lang="en-US" sz="3200" kern="1200" smtClean="0">
          <a:solidFill>
            <a:srgbClr val="858591"/>
          </a:solidFill>
          <a:latin typeface="+mn-lt"/>
          <a:ea typeface="+mn-ea"/>
          <a:cs typeface="+mn-cs"/>
        </a:defRPr>
      </a:lvl1pPr>
      <a:lvl2pPr marL="1028555" indent="-342852" algn="l" defTabSz="1371408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4260" indent="-342852" algn="l" defTabSz="1371408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9963" indent="-342852" algn="l" defTabSz="1371408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50000"/>
        <a:buFont typeface="Courier New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5667" indent="-342852" algn="l" defTabSz="1371408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40000"/>
        <a:buFont typeface="Wingdings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264" userDrawn="1">
          <p15:clr>
            <a:srgbClr val="F26B43"/>
          </p15:clr>
        </p15:guide>
        <p15:guide id="2" pos="4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9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0" r:id="rId1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txStyles>
    <p:titleStyle>
      <a:lvl1pPr algn="l" defTabSz="1371408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1371408" rtl="0" eaLnBrk="1" fontAlgn="auto" latinLnBrk="0" hangingPunct="1">
        <a:lnSpc>
          <a:spcPct val="90000"/>
        </a:lnSpc>
        <a:spcBef>
          <a:spcPts val="1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lang="en-US" sz="3200" kern="1200" smtClean="0">
          <a:solidFill>
            <a:srgbClr val="858591"/>
          </a:solidFill>
          <a:latin typeface="+mn-lt"/>
          <a:ea typeface="+mn-ea"/>
          <a:cs typeface="+mn-cs"/>
        </a:defRPr>
      </a:lvl1pPr>
      <a:lvl2pPr marL="1028555" indent="-342852" algn="l" defTabSz="1371408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4260" indent="-342852" algn="l" defTabSz="1371408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9963" indent="-342852" algn="l" defTabSz="1371408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50000"/>
        <a:buFont typeface="Courier New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5667" indent="-342852" algn="l" defTabSz="1371408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40000"/>
        <a:buFont typeface="Wingdings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264">
          <p15:clr>
            <a:srgbClr val="F26B43"/>
          </p15:clr>
        </p15:guide>
        <p15:guide id="2" pos="4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.sv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16.svg"/><Relationship Id="rId10" Type="http://schemas.openxmlformats.org/officeDocument/2006/relationships/image" Target="../media/image25.png"/><Relationship Id="rId4" Type="http://schemas.openxmlformats.org/officeDocument/2006/relationships/image" Target="../media/image18.sv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.xml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.xml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Marcador de posición de imagen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8287998" cy="10180489"/>
          </a:xfrm>
          <a:prstGeom prst="rect">
            <a:avLst/>
          </a:prstGeom>
        </p:spPr>
      </p:pic>
      <p:sp>
        <p:nvSpPr>
          <p:cNvPr id="26" name="Rectangle 2"/>
          <p:cNvSpPr/>
          <p:nvPr/>
        </p:nvSpPr>
        <p:spPr>
          <a:xfrm>
            <a:off x="0" y="128362"/>
            <a:ext cx="18288001" cy="91537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rtlCol="0" anchor="ctr"/>
          <a:lstStyle/>
          <a:p>
            <a:pPr algn="ctr"/>
            <a:endParaRPr lang="uk-UA" sz="8900" b="1">
              <a:solidFill>
                <a:srgbClr val="171C30"/>
              </a:solidFill>
              <a:latin typeface="Franklin Gothic Medium"/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0" y="9040233"/>
            <a:ext cx="18288000" cy="1246767"/>
          </a:xfrm>
          <a:prstGeom prst="rect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3" rIns="91428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05886D0-C369-6E4B-8404-E196C54E4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9277352"/>
            <a:ext cx="3157538" cy="742949"/>
          </a:xfrm>
          <a:prstGeom prst="rect">
            <a:avLst/>
          </a:prstGeom>
        </p:spPr>
      </p:pic>
      <p:sp>
        <p:nvSpPr>
          <p:cNvPr id="24" name="CuadroTexto 23"/>
          <p:cNvSpPr txBox="1"/>
          <p:nvPr/>
        </p:nvSpPr>
        <p:spPr>
          <a:xfrm>
            <a:off x="16271631" y="9400721"/>
            <a:ext cx="1368111" cy="461651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r>
              <a:rPr lang="es-ES" sz="2400" b="1" err="1">
                <a:solidFill>
                  <a:schemeClr val="accent1"/>
                </a:solidFill>
              </a:rPr>
              <a:t>unir.net</a:t>
            </a:r>
            <a:endParaRPr lang="es-ES" sz="2400" b="1">
              <a:solidFill>
                <a:schemeClr val="accent1"/>
              </a:solidFill>
            </a:endParaRP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D9BDF4CB-82FC-4C2C-81CF-E0F2A8CB6E61}"/>
              </a:ext>
            </a:extLst>
          </p:cNvPr>
          <p:cNvSpPr txBox="1"/>
          <p:nvPr/>
        </p:nvSpPr>
        <p:spPr>
          <a:xfrm>
            <a:off x="2999909" y="2971466"/>
            <a:ext cx="12288182" cy="3016196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pPr algn="ctr"/>
            <a:r>
              <a:rPr lang="es-ES_tradnl" sz="9500" b="1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Presentación asignatura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62E96E4F-FA2E-4107-B487-EC0DA878A163}"/>
              </a:ext>
            </a:extLst>
          </p:cNvPr>
          <p:cNvSpPr txBox="1"/>
          <p:nvPr/>
        </p:nvSpPr>
        <p:spPr>
          <a:xfrm>
            <a:off x="307944" y="6382170"/>
            <a:ext cx="17796414" cy="646317"/>
          </a:xfrm>
          <a:prstGeom prst="rect">
            <a:avLst/>
          </a:prstGeom>
          <a:noFill/>
        </p:spPr>
        <p:txBody>
          <a:bodyPr wrap="square" lIns="91428" tIns="45713" rIns="91428" bIns="45713" rtlCol="0" anchor="t">
            <a:spAutoFit/>
          </a:bodyPr>
          <a:lstStyle/>
          <a:p>
            <a:pPr lvl="0" algn="ctr"/>
            <a:r>
              <a:rPr lang="es-ES_tradnl" sz="3600">
                <a:solidFill>
                  <a:srgbClr val="FFFFFF"/>
                </a:solidFill>
                <a:latin typeface="Franklin Gothic Medium"/>
                <a:ea typeface="Roboto Black"/>
              </a:rPr>
              <a:t>Máster en Formación del Profesorado </a:t>
            </a:r>
          </a:p>
        </p:txBody>
      </p:sp>
      <p:grpSp>
        <p:nvGrpSpPr>
          <p:cNvPr id="4" name="Agrupar 35">
            <a:extLst>
              <a:ext uri="{FF2B5EF4-FFF2-40B4-BE49-F238E27FC236}">
                <a16:creationId xmlns:a16="http://schemas.microsoft.com/office/drawing/2014/main" id="{A63654EC-D040-4E69-A998-462FE8FF0E3B}"/>
              </a:ext>
            </a:extLst>
          </p:cNvPr>
          <p:cNvGrpSpPr/>
          <p:nvPr/>
        </p:nvGrpSpPr>
        <p:grpSpPr>
          <a:xfrm>
            <a:off x="3425094" y="3107654"/>
            <a:ext cx="836490" cy="620766"/>
            <a:chOff x="1406133" y="686869"/>
            <a:chExt cx="2648037" cy="2353739"/>
          </a:xfrm>
        </p:grpSpPr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E3605AEA-7688-4EFF-8883-A20A3DF8CABA}"/>
                </a:ext>
              </a:extLst>
            </p:cNvPr>
            <p:cNvCxnSpPr/>
            <p:nvPr/>
          </p:nvCxnSpPr>
          <p:spPr>
            <a:xfrm>
              <a:off x="1406134" y="730212"/>
              <a:ext cx="0" cy="2310396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95129AB4-FCFC-41A5-8A3E-B19B12C20BD9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Agrupar 38">
            <a:extLst>
              <a:ext uri="{FF2B5EF4-FFF2-40B4-BE49-F238E27FC236}">
                <a16:creationId xmlns:a16="http://schemas.microsoft.com/office/drawing/2014/main" id="{EC2FA4CE-FB64-4756-8CE6-1640CE422556}"/>
              </a:ext>
            </a:extLst>
          </p:cNvPr>
          <p:cNvGrpSpPr/>
          <p:nvPr/>
        </p:nvGrpSpPr>
        <p:grpSpPr>
          <a:xfrm rot="10800000">
            <a:off x="13524716" y="5071106"/>
            <a:ext cx="858056" cy="685464"/>
            <a:chOff x="1406133" y="686869"/>
            <a:chExt cx="2648037" cy="2353739"/>
          </a:xfrm>
        </p:grpSpPr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E4A3BE18-F0C3-476A-BBF9-8D1AEA680FF2}"/>
                </a:ext>
              </a:extLst>
            </p:cNvPr>
            <p:cNvCxnSpPr/>
            <p:nvPr/>
          </p:nvCxnSpPr>
          <p:spPr>
            <a:xfrm>
              <a:off x="1406134" y="730212"/>
              <a:ext cx="0" cy="2310396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11BDDE0E-3818-43D1-9783-DAF144DF4951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869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7EFD8747-4C1F-B9B4-A14E-4AA62E21D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E4FBDD-85C1-3CC1-514E-41591FF80CA6}"/>
              </a:ext>
            </a:extLst>
          </p:cNvPr>
          <p:cNvSpPr txBox="1"/>
          <p:nvPr/>
        </p:nvSpPr>
        <p:spPr>
          <a:xfrm>
            <a:off x="1097365" y="3266448"/>
            <a:ext cx="216506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EL VALOR DE LAS CLASES  Resolución de problemas/ casos prácticos de aula 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F61F3BC-68DD-4C5E-C75C-309C89C765D1}"/>
              </a:ext>
            </a:extLst>
          </p:cNvPr>
          <p:cNvCxnSpPr>
            <a:cxnSpLocks/>
          </p:cNvCxnSpPr>
          <p:nvPr/>
        </p:nvCxnSpPr>
        <p:spPr>
          <a:xfrm>
            <a:off x="3670593" y="3341366"/>
            <a:ext cx="0" cy="5557393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34057FF-9592-0F49-0823-B2C2A7FC2E3E}"/>
              </a:ext>
            </a:extLst>
          </p:cNvPr>
          <p:cNvCxnSpPr>
            <a:cxnSpLocks/>
          </p:cNvCxnSpPr>
          <p:nvPr/>
        </p:nvCxnSpPr>
        <p:spPr>
          <a:xfrm>
            <a:off x="6741994" y="3341365"/>
            <a:ext cx="0" cy="5764698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áfico 13" descr="Aula de clases con relleno sólido">
            <a:extLst>
              <a:ext uri="{FF2B5EF4-FFF2-40B4-BE49-F238E27FC236}">
                <a16:creationId xmlns:a16="http://schemas.microsoft.com/office/drawing/2014/main" id="{C1B38B7F-C1A8-1E88-2D3D-635C800D6E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7207" y="1896158"/>
            <a:ext cx="1255221" cy="124439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B5498E9-B2FC-DAE8-82C6-963A7698FE55}"/>
              </a:ext>
            </a:extLst>
          </p:cNvPr>
          <p:cNvSpPr txBox="1"/>
          <p:nvPr/>
        </p:nvSpPr>
        <p:spPr>
          <a:xfrm>
            <a:off x="3970094" y="3148491"/>
            <a:ext cx="257222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CONTENIDOS: </a:t>
            </a:r>
          </a:p>
          <a:p>
            <a:pPr algn="ctr"/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QUÉ y CÓMO</a:t>
            </a:r>
          </a:p>
          <a:p>
            <a:pPr algn="ctr"/>
            <a:endParaRPr lang="es-ES" sz="1800" dirty="0">
              <a:solidFill>
                <a:srgbClr val="00566C"/>
              </a:solidFill>
              <a:latin typeface="Libre Franklin"/>
            </a:endParaRPr>
          </a:p>
          <a:p>
            <a:pPr algn="ctr"/>
            <a:r>
              <a:rPr lang="es-ES" sz="1800" dirty="0">
                <a:solidFill>
                  <a:srgbClr val="00566C"/>
                </a:solidFill>
                <a:latin typeface="Libre Franklin"/>
              </a:rPr>
              <a:t>Los  contenidos de las asignaturas se dividen en dos bloques: “</a:t>
            </a:r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Qué tengo que saber” y “Cómo lo puedo aplicar”.</a:t>
            </a:r>
            <a:endParaRPr lang="es-ES" sz="1800" dirty="0">
              <a:solidFill>
                <a:srgbClr val="00566C"/>
              </a:solidFill>
              <a:latin typeface="Libre Franklin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1812AA-5CB1-3B84-EFDE-7E1AAE05AF5D}"/>
              </a:ext>
            </a:extLst>
          </p:cNvPr>
          <p:cNvSpPr txBox="1"/>
          <p:nvPr/>
        </p:nvSpPr>
        <p:spPr>
          <a:xfrm>
            <a:off x="6803691" y="3196753"/>
            <a:ext cx="254922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PROYECTO TRANSVERSAL: MICROPROGRAMACIÓN DIDÁCTICA</a:t>
            </a:r>
          </a:p>
          <a:p>
            <a:pPr algn="ctr"/>
            <a:r>
              <a:rPr lang="es-ES" sz="1800" dirty="0">
                <a:solidFill>
                  <a:srgbClr val="00566C"/>
                </a:solidFill>
                <a:latin typeface="Libre Franklin"/>
              </a:rPr>
              <a:t>Se realizan </a:t>
            </a:r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dos actividades </a:t>
            </a:r>
            <a:r>
              <a:rPr lang="es-ES" sz="1800" dirty="0">
                <a:solidFill>
                  <a:srgbClr val="00566C"/>
                </a:solidFill>
                <a:latin typeface="Libre Franklin"/>
              </a:rPr>
              <a:t>con las que diseñarán </a:t>
            </a:r>
          </a:p>
          <a:p>
            <a:pPr algn="ctr"/>
            <a:r>
              <a:rPr lang="es-ES" sz="1800" dirty="0">
                <a:solidFill>
                  <a:srgbClr val="00566C"/>
                </a:solidFill>
                <a:latin typeface="Libre Franklin"/>
              </a:rPr>
              <a:t>una   </a:t>
            </a:r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Microprogramación de aula </a:t>
            </a:r>
            <a:r>
              <a:rPr lang="es-ES" sz="1800" dirty="0">
                <a:solidFill>
                  <a:srgbClr val="00566C"/>
                </a:solidFill>
                <a:latin typeface="Libre Franklin"/>
              </a:rPr>
              <a:t>común a todas las asignaturas de la especialidad.</a:t>
            </a:r>
          </a:p>
          <a:p>
            <a:pPr algn="ctr"/>
            <a:endParaRPr lang="es-ES" sz="1800" dirty="0">
              <a:solidFill>
                <a:srgbClr val="00566C"/>
              </a:solidFill>
              <a:latin typeface="Libre Franklin"/>
            </a:endParaRPr>
          </a:p>
          <a:p>
            <a:pPr algn="ctr"/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OTRAS ACTIVIDADES: </a:t>
            </a:r>
            <a:r>
              <a:rPr lang="es-ES" sz="1800" dirty="0">
                <a:solidFill>
                  <a:srgbClr val="00566C"/>
                </a:solidFill>
                <a:latin typeface="Libre Franklin"/>
              </a:rPr>
              <a:t>asistencia y test.</a:t>
            </a:r>
          </a:p>
        </p:txBody>
      </p:sp>
      <p:pic>
        <p:nvPicPr>
          <p:cNvPr id="24" name="Gráfico 23" descr="Bombilla y lápiz con relleno sólido">
            <a:extLst>
              <a:ext uri="{FF2B5EF4-FFF2-40B4-BE49-F238E27FC236}">
                <a16:creationId xmlns:a16="http://schemas.microsoft.com/office/drawing/2014/main" id="{7A79058D-7199-7641-8DB8-1DB35CF614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54717" y="1958501"/>
            <a:ext cx="1044552" cy="1022101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57615912-D918-731B-EB13-7D46DE381BE1}"/>
              </a:ext>
            </a:extLst>
          </p:cNvPr>
          <p:cNvSpPr txBox="1"/>
          <p:nvPr/>
        </p:nvSpPr>
        <p:spPr>
          <a:xfrm>
            <a:off x="14997724" y="3128325"/>
            <a:ext cx="269670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CLASES COMPLEMENTARIAS</a:t>
            </a:r>
          </a:p>
          <a:p>
            <a:pPr algn="ctr"/>
            <a:endParaRPr lang="es-ES" sz="1800" dirty="0">
              <a:solidFill>
                <a:srgbClr val="00566C"/>
              </a:solidFill>
              <a:latin typeface="Libre Franklin"/>
            </a:endParaRPr>
          </a:p>
          <a:p>
            <a:pPr algn="ctr"/>
            <a:r>
              <a:rPr lang="es-ES" sz="1800" dirty="0">
                <a:solidFill>
                  <a:srgbClr val="00566C"/>
                </a:solidFill>
                <a:latin typeface="Libre Franklin"/>
              </a:rPr>
              <a:t>Tendremos clases complementarias sobre actividades, modelo examen, taller y dudas. </a:t>
            </a:r>
            <a:endParaRPr lang="es-ES" sz="1800" b="1" dirty="0">
              <a:solidFill>
                <a:srgbClr val="00566C"/>
              </a:solidFill>
              <a:latin typeface="Libre Franklin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C09BB4F-F2F9-D253-2E59-765D1B87BB1C}"/>
              </a:ext>
            </a:extLst>
          </p:cNvPr>
          <p:cNvCxnSpPr>
            <a:cxnSpLocks/>
          </p:cNvCxnSpPr>
          <p:nvPr/>
        </p:nvCxnSpPr>
        <p:spPr>
          <a:xfrm flipH="1">
            <a:off x="9462952" y="3321081"/>
            <a:ext cx="39273" cy="578498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áfico 29" descr="Arquitectura contorno">
            <a:extLst>
              <a:ext uri="{FF2B5EF4-FFF2-40B4-BE49-F238E27FC236}">
                <a16:creationId xmlns:a16="http://schemas.microsoft.com/office/drawing/2014/main" id="{F62E5389-059B-5224-82B0-89B5BD494E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33840" y="1654595"/>
            <a:ext cx="1334960" cy="1334960"/>
          </a:xfrm>
          <a:prstGeom prst="rect">
            <a:avLst/>
          </a:prstGeom>
        </p:spPr>
      </p:pic>
      <p:pic>
        <p:nvPicPr>
          <p:cNvPr id="32" name="Gráfico 31" descr="Insignia 1 con relleno sólido">
            <a:extLst>
              <a:ext uri="{FF2B5EF4-FFF2-40B4-BE49-F238E27FC236}">
                <a16:creationId xmlns:a16="http://schemas.microsoft.com/office/drawing/2014/main" id="{D4E8F50C-A538-FFA4-5788-F642D93FB8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673" y="1908624"/>
            <a:ext cx="914400" cy="914400"/>
          </a:xfrm>
          <a:prstGeom prst="rect">
            <a:avLst/>
          </a:prstGeom>
        </p:spPr>
      </p:pic>
      <p:pic>
        <p:nvPicPr>
          <p:cNvPr id="34" name="Gráfico 33" descr="Insignia con relleno sólido">
            <a:extLst>
              <a:ext uri="{FF2B5EF4-FFF2-40B4-BE49-F238E27FC236}">
                <a16:creationId xmlns:a16="http://schemas.microsoft.com/office/drawing/2014/main" id="{2875D579-84F4-3B78-A364-AE53EB8CE1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0213" y="1908624"/>
            <a:ext cx="914400" cy="914400"/>
          </a:xfrm>
          <a:prstGeom prst="rect">
            <a:avLst/>
          </a:prstGeom>
        </p:spPr>
      </p:pic>
      <p:pic>
        <p:nvPicPr>
          <p:cNvPr id="36" name="Gráfico 35" descr="Insignia 3 con relleno sólido">
            <a:extLst>
              <a:ext uri="{FF2B5EF4-FFF2-40B4-BE49-F238E27FC236}">
                <a16:creationId xmlns:a16="http://schemas.microsoft.com/office/drawing/2014/main" id="{5D84A184-DF8D-7A21-2A03-763358FC4E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49234" y="1838983"/>
            <a:ext cx="914400" cy="914400"/>
          </a:xfrm>
          <a:prstGeom prst="rect">
            <a:avLst/>
          </a:prstGeom>
        </p:spPr>
      </p:pic>
      <p:pic>
        <p:nvPicPr>
          <p:cNvPr id="38" name="Gráfico 37" descr="Insignia 4 con relleno sólido">
            <a:extLst>
              <a:ext uri="{FF2B5EF4-FFF2-40B4-BE49-F238E27FC236}">
                <a16:creationId xmlns:a16="http://schemas.microsoft.com/office/drawing/2014/main" id="{34282AEB-9E33-D077-A818-DC6F09952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62952" y="1838983"/>
            <a:ext cx="914400" cy="914400"/>
          </a:xfrm>
          <a:prstGeom prst="rect">
            <a:avLst/>
          </a:prstGeom>
        </p:spPr>
      </p:pic>
      <p:pic>
        <p:nvPicPr>
          <p:cNvPr id="40" name="Gráfico 39" descr="Piezas de rompecabezas contorno">
            <a:extLst>
              <a:ext uri="{FF2B5EF4-FFF2-40B4-BE49-F238E27FC236}">
                <a16:creationId xmlns:a16="http://schemas.microsoft.com/office/drawing/2014/main" id="{FD8AF173-18AF-A8CD-64E0-962F57C4B0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3634" y="1731942"/>
            <a:ext cx="1357770" cy="135777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D2DA81E-0A43-D5B9-D6A8-AB0CCA166980}"/>
              </a:ext>
            </a:extLst>
          </p:cNvPr>
          <p:cNvSpPr txBox="1"/>
          <p:nvPr/>
        </p:nvSpPr>
        <p:spPr>
          <a:xfrm>
            <a:off x="9749899" y="3113031"/>
            <a:ext cx="200692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 FOROS</a:t>
            </a:r>
          </a:p>
          <a:p>
            <a:pPr algn="ctr"/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 </a:t>
            </a:r>
            <a:endParaRPr lang="es-ES" sz="1800" dirty="0">
              <a:solidFill>
                <a:srgbClr val="00566C"/>
              </a:solidFill>
              <a:latin typeface="Libre Franklin"/>
            </a:endParaRPr>
          </a:p>
          <a:p>
            <a:pPr algn="ctr"/>
            <a:r>
              <a:rPr lang="es-ES" sz="1800" dirty="0">
                <a:solidFill>
                  <a:srgbClr val="00566C"/>
                </a:solidFill>
                <a:latin typeface="Libre Franklin"/>
              </a:rPr>
              <a:t>Hay dos foros en la asignatura: </a:t>
            </a:r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foro dinamizador </a:t>
            </a:r>
            <a:r>
              <a:rPr lang="es-ES" sz="1800" dirty="0">
                <a:solidFill>
                  <a:srgbClr val="00566C"/>
                </a:solidFill>
                <a:latin typeface="Libre Franklin"/>
              </a:rPr>
              <a:t>(se plantea el problema y no se interviene), </a:t>
            </a:r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foro pregúntale al profesor</a:t>
            </a:r>
            <a:r>
              <a:rPr lang="es-ES" sz="1800" dirty="0">
                <a:solidFill>
                  <a:srgbClr val="00566C"/>
                </a:solidFill>
                <a:latin typeface="Libre Franklin"/>
              </a:rPr>
              <a:t> (para resolver todas las dudas de la asignatura)</a:t>
            </a:r>
          </a:p>
        </p:txBody>
      </p:sp>
      <p:pic>
        <p:nvPicPr>
          <p:cNvPr id="6" name="Gráfico 5" descr="Dirigir dos pines por un camino con relleno sólido">
            <a:extLst>
              <a:ext uri="{FF2B5EF4-FFF2-40B4-BE49-F238E27FC236}">
                <a16:creationId xmlns:a16="http://schemas.microsoft.com/office/drawing/2014/main" id="{5ABED92F-C9FC-7D38-B81C-ED2F7B378D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34368" y="1708320"/>
            <a:ext cx="1077621" cy="107762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96042C1-105C-F95B-7E4D-9025E57C408D}"/>
              </a:ext>
            </a:extLst>
          </p:cNvPr>
          <p:cNvSpPr txBox="1"/>
          <p:nvPr/>
        </p:nvSpPr>
        <p:spPr>
          <a:xfrm>
            <a:off x="12316816" y="3055919"/>
            <a:ext cx="206784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EXAMEN 100% PRÁCTICOS</a:t>
            </a:r>
          </a:p>
          <a:p>
            <a:pPr algn="ctr"/>
            <a:endParaRPr lang="es-ES" sz="1800" dirty="0">
              <a:solidFill>
                <a:srgbClr val="00566C"/>
              </a:solidFill>
              <a:latin typeface="Libre Franklin"/>
            </a:endParaRPr>
          </a:p>
          <a:p>
            <a:pPr algn="ctr"/>
            <a:r>
              <a:rPr lang="es-ES" sz="1800" dirty="0">
                <a:solidFill>
                  <a:srgbClr val="00566C"/>
                </a:solidFill>
                <a:latin typeface="Libre Franklin"/>
              </a:rPr>
              <a:t>Consiste en el desarrollo de un </a:t>
            </a:r>
            <a:r>
              <a:rPr lang="es-ES" sz="1800" b="1" dirty="0">
                <a:solidFill>
                  <a:srgbClr val="00566C"/>
                </a:solidFill>
                <a:latin typeface="Libre Franklin"/>
              </a:rPr>
              <a:t>caso práctico de aula guiado</a:t>
            </a:r>
            <a:r>
              <a:rPr lang="es-ES" sz="1800" dirty="0">
                <a:solidFill>
                  <a:srgbClr val="00566C"/>
                </a:solidFill>
                <a:latin typeface="Libre Franklin"/>
              </a:rPr>
              <a:t>, lo habréis entrenado en las actividades y en las clases en directo.</a:t>
            </a:r>
          </a:p>
        </p:txBody>
      </p:sp>
      <p:pic>
        <p:nvPicPr>
          <p:cNvPr id="10" name="Gráfico 9" descr="Lista de comprobación con relleno sólido">
            <a:extLst>
              <a:ext uri="{FF2B5EF4-FFF2-40B4-BE49-F238E27FC236}">
                <a16:creationId xmlns:a16="http://schemas.microsoft.com/office/drawing/2014/main" id="{729AB0A1-DABE-F995-7B4A-20BCFDDB3A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011918" y="1754111"/>
            <a:ext cx="1093572" cy="1084144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7B65C50-317D-EAAD-23BE-AD8DE7B3C81C}"/>
              </a:ext>
            </a:extLst>
          </p:cNvPr>
          <p:cNvCxnSpPr>
            <a:cxnSpLocks/>
          </p:cNvCxnSpPr>
          <p:nvPr/>
        </p:nvCxnSpPr>
        <p:spPr>
          <a:xfrm>
            <a:off x="11919827" y="3397961"/>
            <a:ext cx="0" cy="573981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áfico 11" descr="Insignia 5 con relleno sólido">
            <a:extLst>
              <a:ext uri="{FF2B5EF4-FFF2-40B4-BE49-F238E27FC236}">
                <a16:creationId xmlns:a16="http://schemas.microsoft.com/office/drawing/2014/main" id="{6BD929DF-9EA0-13B9-87E4-E6B67888FA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62381" y="1792368"/>
            <a:ext cx="914400" cy="914400"/>
          </a:xfrm>
          <a:prstGeom prst="rect">
            <a:avLst/>
          </a:prstGeom>
        </p:spPr>
      </p:pic>
      <p:pic>
        <p:nvPicPr>
          <p:cNvPr id="13" name="Gráfico 12" descr="Insignia 6 con relleno sólido">
            <a:extLst>
              <a:ext uri="{FF2B5EF4-FFF2-40B4-BE49-F238E27FC236}">
                <a16:creationId xmlns:a16="http://schemas.microsoft.com/office/drawing/2014/main" id="{E749C528-9AC8-085F-EC6F-809B056AFC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718109" y="1754251"/>
            <a:ext cx="914400" cy="914400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491D20E-76DE-DCB6-FB2C-30DA90201909}"/>
              </a:ext>
            </a:extLst>
          </p:cNvPr>
          <p:cNvCxnSpPr>
            <a:cxnSpLocks/>
          </p:cNvCxnSpPr>
          <p:nvPr/>
        </p:nvCxnSpPr>
        <p:spPr>
          <a:xfrm>
            <a:off x="14554170" y="3341365"/>
            <a:ext cx="0" cy="5557394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950E1378-0F42-E7E8-3F42-673849713625}"/>
              </a:ext>
            </a:extLst>
          </p:cNvPr>
          <p:cNvSpPr txBox="1">
            <a:spLocks/>
          </p:cNvSpPr>
          <p:nvPr/>
        </p:nvSpPr>
        <p:spPr>
          <a:xfrm>
            <a:off x="928673" y="523197"/>
            <a:ext cx="15718094" cy="701716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algn="l" defTabSz="137140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4400" b="1" kern="1200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s-ES" dirty="0">
                <a:solidFill>
                  <a:srgbClr val="23AAD5"/>
                </a:solidFill>
              </a:rPr>
              <a:t>02. Presentación </a:t>
            </a:r>
          </a:p>
        </p:txBody>
      </p:sp>
    </p:spTree>
    <p:extLst>
      <p:ext uri="{BB962C8B-B14F-4D97-AF65-F5344CB8AC3E}">
        <p14:creationId xmlns:p14="http://schemas.microsoft.com/office/powerpoint/2010/main" val="374447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15A600-AE1D-4BFD-8EDF-6B9BA050FF16}"/>
              </a:ext>
            </a:extLst>
          </p:cNvPr>
          <p:cNvSpPr/>
          <p:nvPr/>
        </p:nvSpPr>
        <p:spPr>
          <a:xfrm rot="5400000" flipH="1" flipV="1">
            <a:off x="4000498" y="-4000500"/>
            <a:ext cx="10287000" cy="1828800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rtlCol="0" anchor="ctr"/>
          <a:lstStyle/>
          <a:p>
            <a:pPr algn="ctr"/>
            <a:endParaRPr lang="es-E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3BD53-5175-44CA-97A3-0EB5C507D4A7}"/>
              </a:ext>
            </a:extLst>
          </p:cNvPr>
          <p:cNvSpPr txBox="1"/>
          <p:nvPr/>
        </p:nvSpPr>
        <p:spPr>
          <a:xfrm>
            <a:off x="969499" y="1392576"/>
            <a:ext cx="16071574" cy="415496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pPr algn="ctr"/>
            <a:r>
              <a:rPr lang="es-ES_tradnl" sz="8800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¿Cómo es nuestro modelo pedagógico?</a:t>
            </a:r>
          </a:p>
          <a:p>
            <a:pPr algn="ctr"/>
            <a:endParaRPr lang="es-ES_tradnl" sz="8800" dirty="0">
              <a:solidFill>
                <a:schemeClr val="accent4"/>
              </a:solidFill>
              <a:latin typeface="+mj-lt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06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85257" y="1621973"/>
            <a:ext cx="15826599" cy="7645732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0528" y="0"/>
                  </a:moveTo>
                  <a:lnTo>
                    <a:pt x="4244198" y="0"/>
                  </a:lnTo>
                  <a:cubicBezTo>
                    <a:pt x="4261058" y="0"/>
                    <a:pt x="4274726" y="13668"/>
                    <a:pt x="4274726" y="30528"/>
                  </a:cubicBezTo>
                  <a:lnTo>
                    <a:pt x="4274726" y="2136939"/>
                  </a:lnTo>
                  <a:cubicBezTo>
                    <a:pt x="4274726" y="2153799"/>
                    <a:pt x="4261058" y="2167467"/>
                    <a:pt x="4244198" y="2167467"/>
                  </a:cubicBezTo>
                  <a:lnTo>
                    <a:pt x="30528" y="2167467"/>
                  </a:lnTo>
                  <a:cubicBezTo>
                    <a:pt x="22431" y="2167467"/>
                    <a:pt x="14666" y="2164250"/>
                    <a:pt x="8941" y="2158525"/>
                  </a:cubicBezTo>
                  <a:cubicBezTo>
                    <a:pt x="3216" y="2152800"/>
                    <a:pt x="0" y="2145036"/>
                    <a:pt x="0" y="2136939"/>
                  </a:cubicBezTo>
                  <a:lnTo>
                    <a:pt x="0" y="30528"/>
                  </a:lnTo>
                  <a:cubicBezTo>
                    <a:pt x="0" y="13668"/>
                    <a:pt x="13668" y="0"/>
                    <a:pt x="305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008EAD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367983"/>
              </p:ext>
            </p:extLst>
          </p:nvPr>
        </p:nvGraphicFramePr>
        <p:xfrm>
          <a:off x="8359249" y="1864813"/>
          <a:ext cx="8448294" cy="6800214"/>
        </p:xfrm>
        <a:graphic>
          <a:graphicData uri="http://schemas.openxmlformats.org/drawingml/2006/table">
            <a:tbl>
              <a:tblPr/>
              <a:tblGrid>
                <a:gridCol w="812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9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6673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8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>
                          <a:solidFill>
                            <a:srgbClr val="6C443C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1.</a:t>
                      </a:r>
                      <a:endParaRPr lang="en-US" sz="32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511"/>
                        </a:lnSpc>
                        <a:spcBef>
                          <a:spcPct val="0"/>
                        </a:spcBef>
                        <a:defRPr/>
                      </a:pPr>
                      <a:endParaRPr lang="en-US" sz="32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73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s-ES_tradnl" sz="3200" b="1" noProof="0">
                          <a:solidFill>
                            <a:srgbClr val="4A879B"/>
                          </a:solidFill>
                          <a:latin typeface="+mn-lt"/>
                          <a:ea typeface="Libre Franklin Bold"/>
                          <a:cs typeface="Libre Franklin Bold"/>
                          <a:sym typeface="Libre Franklin Bold"/>
                        </a:rPr>
                        <a:t>RUTA DE APRENDIZAJE </a:t>
                      </a:r>
                      <a:r>
                        <a:rPr lang="es-ES_tradnl" sz="3200" noProof="0">
                          <a:solidFill>
                            <a:srgbClr val="000000"/>
                          </a:solidFill>
                          <a:latin typeface="+mn-lt"/>
                          <a:ea typeface="Libre Franklin"/>
                          <a:cs typeface="Libre Franklin"/>
                          <a:sym typeface="Libre Franklin"/>
                        </a:rPr>
                        <a:t>que une y relaciona a todas las asignaturas entre sí </a:t>
                      </a:r>
                      <a:endParaRPr lang="es-ES_tradnl" sz="3200" noProof="0">
                        <a:latin typeface="+mn-lt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673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8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>
                          <a:solidFill>
                            <a:srgbClr val="6C443C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2.</a:t>
                      </a:r>
                      <a:endParaRPr lang="en-US" sz="32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511"/>
                        </a:lnSpc>
                        <a:spcBef>
                          <a:spcPct val="0"/>
                        </a:spcBef>
                        <a:defRPr/>
                      </a:pPr>
                      <a:endParaRPr lang="en-US" sz="32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73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s-ES_tradnl" sz="3200" b="1" noProof="0" dirty="0">
                          <a:solidFill>
                            <a:srgbClr val="4A879B"/>
                          </a:solidFill>
                          <a:latin typeface="+mn-lt"/>
                          <a:ea typeface="Libre Franklin Bold"/>
                          <a:cs typeface="Libre Franklin Bold"/>
                          <a:sym typeface="Libre Franklin Bold"/>
                        </a:rPr>
                        <a:t>ACTIVIDAD TRANSVERSAL</a:t>
                      </a:r>
                      <a:r>
                        <a:rPr lang="es-ES_tradnl" sz="3200" noProof="0" dirty="0">
                          <a:solidFill>
                            <a:srgbClr val="4A879B"/>
                          </a:solidFill>
                          <a:latin typeface="+mn-lt"/>
                          <a:ea typeface="Libre Franklin"/>
                          <a:cs typeface="Libre Franklin"/>
                          <a:sym typeface="Libre Franklin"/>
                        </a:rPr>
                        <a:t> </a:t>
                      </a:r>
                      <a:r>
                        <a:rPr lang="es-ES_tradnl" sz="3200" noProof="0" dirty="0">
                          <a:solidFill>
                            <a:srgbClr val="000000"/>
                          </a:solidFill>
                          <a:latin typeface="+mn-lt"/>
                          <a:ea typeface="Libre Franklin"/>
                          <a:cs typeface="Libre Franklin"/>
                          <a:sym typeface="Libre Franklin"/>
                        </a:rPr>
                        <a:t>que parte de un supuesto práctico con el que puedes identificarte: “El primer curso como docente de María Freire” </a:t>
                      </a:r>
                      <a:endParaRPr lang="es-ES_tradnl" sz="3200" noProof="0" dirty="0">
                        <a:latin typeface="+mn-lt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673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8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 b="1" u="none" strike="noStrike">
                          <a:solidFill>
                            <a:srgbClr val="6C443C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3.</a:t>
                      </a:r>
                      <a:endParaRPr lang="en-US" sz="32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2511"/>
                        </a:lnSpc>
                        <a:spcBef>
                          <a:spcPct val="0"/>
                        </a:spcBef>
                        <a:defRPr/>
                      </a:pPr>
                      <a:endParaRPr lang="en-US" sz="32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737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s-ES_tradnl" sz="3200" b="1" noProof="0" dirty="0">
                          <a:solidFill>
                            <a:srgbClr val="4A879B"/>
                          </a:solidFill>
                          <a:latin typeface="+mn-lt"/>
                          <a:ea typeface="Libre Franklin Bold"/>
                          <a:cs typeface="Libre Franklin Bold"/>
                          <a:sym typeface="Libre Franklin Bold"/>
                        </a:rPr>
                        <a:t>APRENDIZAJE BASADO EN PROBLEMAS: CLASES APLICABLES en las que se resuelven problemas o casos prácticos del aula, </a:t>
                      </a:r>
                      <a:r>
                        <a:rPr lang="es-ES_tradnl" sz="3200" noProof="0" dirty="0">
                          <a:solidFill>
                            <a:srgbClr val="000000"/>
                          </a:solidFill>
                          <a:latin typeface="+mn-lt"/>
                          <a:ea typeface="Libre Franklin"/>
                          <a:cs typeface="Libre Franklin"/>
                          <a:sym typeface="Libre Franklin"/>
                        </a:rPr>
                        <a:t>que servirán a los estudiantes para su desempeño docente</a:t>
                      </a:r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 flipH="1">
            <a:off x="2352989" y="3927119"/>
            <a:ext cx="4920593" cy="5340586"/>
          </a:xfrm>
          <a:custGeom>
            <a:avLst/>
            <a:gdLst/>
            <a:ahLst/>
            <a:cxnLst/>
            <a:rect l="l" t="t" r="r" b="b"/>
            <a:pathLst>
              <a:path w="4602219" h="4784916">
                <a:moveTo>
                  <a:pt x="4602219" y="0"/>
                </a:moveTo>
                <a:lnTo>
                  <a:pt x="0" y="0"/>
                </a:lnTo>
                <a:lnTo>
                  <a:pt x="0" y="4784916"/>
                </a:lnTo>
                <a:lnTo>
                  <a:pt x="4602219" y="4784916"/>
                </a:lnTo>
                <a:lnTo>
                  <a:pt x="460221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B6D5CDE-9733-2C17-71DE-24EE82E97EA3}"/>
              </a:ext>
            </a:extLst>
          </p:cNvPr>
          <p:cNvSpPr txBox="1">
            <a:spLocks/>
          </p:cNvSpPr>
          <p:nvPr/>
        </p:nvSpPr>
        <p:spPr>
          <a:xfrm>
            <a:off x="676144" y="557887"/>
            <a:ext cx="11484421" cy="1311114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algn="l" defTabSz="137140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4400" b="1" kern="1200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El método 4P</a:t>
            </a:r>
            <a:br>
              <a:rPr lang="es-ES_tradnl" dirty="0"/>
            </a:br>
            <a:endParaRPr lang="es-ES_tradnl" dirty="0">
              <a:solidFill>
                <a:srgbClr val="00566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46513" y="975181"/>
            <a:ext cx="15259050" cy="8336635"/>
            <a:chOff x="0" y="-38100"/>
            <a:chExt cx="4274726" cy="22055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0528" y="0"/>
                  </a:moveTo>
                  <a:lnTo>
                    <a:pt x="4244198" y="0"/>
                  </a:lnTo>
                  <a:cubicBezTo>
                    <a:pt x="4261058" y="0"/>
                    <a:pt x="4274726" y="13668"/>
                    <a:pt x="4274726" y="30528"/>
                  </a:cubicBezTo>
                  <a:lnTo>
                    <a:pt x="4274726" y="2136939"/>
                  </a:lnTo>
                  <a:cubicBezTo>
                    <a:pt x="4274726" y="2153799"/>
                    <a:pt x="4261058" y="2167467"/>
                    <a:pt x="4244198" y="2167467"/>
                  </a:cubicBezTo>
                  <a:lnTo>
                    <a:pt x="30528" y="2167467"/>
                  </a:lnTo>
                  <a:cubicBezTo>
                    <a:pt x="22431" y="2167467"/>
                    <a:pt x="14666" y="2164250"/>
                    <a:pt x="8941" y="2158525"/>
                  </a:cubicBezTo>
                  <a:cubicBezTo>
                    <a:pt x="3216" y="2152800"/>
                    <a:pt x="0" y="2145036"/>
                    <a:pt x="0" y="2136939"/>
                  </a:cubicBezTo>
                  <a:lnTo>
                    <a:pt x="0" y="30528"/>
                  </a:lnTo>
                  <a:cubicBezTo>
                    <a:pt x="0" y="13668"/>
                    <a:pt x="13668" y="0"/>
                    <a:pt x="305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008EAD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024512" y="726770"/>
            <a:ext cx="7293429" cy="9100451"/>
          </a:xfrm>
          <a:custGeom>
            <a:avLst/>
            <a:gdLst/>
            <a:ahLst/>
            <a:cxnLst/>
            <a:rect l="l" t="t" r="r" b="b"/>
            <a:pathLst>
              <a:path w="6477759" h="9629101">
                <a:moveTo>
                  <a:pt x="0" y="0"/>
                </a:moveTo>
                <a:lnTo>
                  <a:pt x="6477759" y="0"/>
                </a:lnTo>
                <a:lnTo>
                  <a:pt x="6477759" y="9629101"/>
                </a:lnTo>
                <a:lnTo>
                  <a:pt x="0" y="96291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TextBox 6"/>
          <p:cNvSpPr txBox="1"/>
          <p:nvPr/>
        </p:nvSpPr>
        <p:spPr>
          <a:xfrm>
            <a:off x="2341660" y="2982006"/>
            <a:ext cx="10172560" cy="314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2"/>
              </a:lnSpc>
            </a:pPr>
            <a:r>
              <a:rPr lang="en-US" sz="8000" b="1" dirty="0">
                <a:solidFill>
                  <a:srgbClr val="008EAD"/>
                </a:solidFill>
                <a:latin typeface="+mj-lt"/>
                <a:ea typeface="Nunito Bold"/>
                <a:cs typeface="Nunito Bold"/>
                <a:sym typeface="Nunito Bold"/>
              </a:rPr>
              <a:t>El primer </a:t>
            </a:r>
            <a:r>
              <a:rPr lang="en-US" sz="8000" b="1" dirty="0" err="1">
                <a:solidFill>
                  <a:srgbClr val="008EAD"/>
                </a:solidFill>
                <a:latin typeface="+mj-lt"/>
                <a:ea typeface="Nunito Bold"/>
                <a:cs typeface="Nunito Bold"/>
                <a:sym typeface="Nunito Bold"/>
              </a:rPr>
              <a:t>curso</a:t>
            </a:r>
            <a:r>
              <a:rPr lang="en-US" sz="8000" b="1" dirty="0">
                <a:solidFill>
                  <a:srgbClr val="008EAD"/>
                </a:solidFill>
                <a:latin typeface="+mj-lt"/>
                <a:ea typeface="Nunito Bold"/>
                <a:cs typeface="Nunito Bold"/>
                <a:sym typeface="Nunito Bold"/>
              </a:rPr>
              <a:t> </a:t>
            </a:r>
            <a:r>
              <a:rPr lang="en-US" sz="8000" b="1" dirty="0" err="1">
                <a:solidFill>
                  <a:srgbClr val="008EAD"/>
                </a:solidFill>
                <a:latin typeface="+mj-lt"/>
                <a:ea typeface="Nunito Bold"/>
                <a:cs typeface="Nunito Bold"/>
                <a:sym typeface="Nunito Bold"/>
              </a:rPr>
              <a:t>como</a:t>
            </a:r>
            <a:r>
              <a:rPr lang="en-US" sz="8000" b="1" dirty="0">
                <a:solidFill>
                  <a:srgbClr val="008EAD"/>
                </a:solidFill>
                <a:latin typeface="+mj-lt"/>
                <a:ea typeface="Nunito Bold"/>
                <a:cs typeface="Nunito Bold"/>
                <a:sym typeface="Nunito Bold"/>
              </a:rPr>
              <a:t> </a:t>
            </a:r>
            <a:r>
              <a:rPr lang="en-US" sz="8000" b="1" dirty="0" err="1">
                <a:solidFill>
                  <a:srgbClr val="008EAD"/>
                </a:solidFill>
                <a:latin typeface="+mj-lt"/>
                <a:ea typeface="Nunito Bold"/>
                <a:cs typeface="Nunito Bold"/>
                <a:sym typeface="Nunito Bold"/>
              </a:rPr>
              <a:t>docente</a:t>
            </a:r>
            <a:r>
              <a:rPr lang="en-US" sz="8000" b="1" dirty="0">
                <a:solidFill>
                  <a:srgbClr val="008EAD"/>
                </a:solidFill>
                <a:latin typeface="+mj-lt"/>
                <a:ea typeface="Nunito Bold"/>
                <a:cs typeface="Nunito Bold"/>
                <a:sym typeface="Nunito Bold"/>
              </a:rPr>
              <a:t> de María Freire </a:t>
            </a:r>
          </a:p>
        </p:txBody>
      </p:sp>
      <p:sp>
        <p:nvSpPr>
          <p:cNvPr id="8" name="AutoShape 8"/>
          <p:cNvSpPr/>
          <p:nvPr/>
        </p:nvSpPr>
        <p:spPr>
          <a:xfrm>
            <a:off x="2380330" y="2586816"/>
            <a:ext cx="1464505" cy="0"/>
          </a:xfrm>
          <a:prstGeom prst="line">
            <a:avLst/>
          </a:prstGeom>
          <a:ln w="142875" cap="rnd">
            <a:solidFill>
              <a:srgbClr val="008E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CA4356-5A3C-7BEA-63A3-AE37C5BC1E74}"/>
              </a:ext>
            </a:extLst>
          </p:cNvPr>
          <p:cNvSpPr txBox="1">
            <a:spLocks/>
          </p:cNvSpPr>
          <p:nvPr/>
        </p:nvSpPr>
        <p:spPr>
          <a:xfrm>
            <a:off x="150586" y="273465"/>
            <a:ext cx="13065001" cy="701716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algn="l" defTabSz="137140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4400" b="1" kern="1200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s-ES" dirty="0">
                <a:solidFill>
                  <a:srgbClr val="23AAD5"/>
                </a:solidFill>
              </a:rPr>
              <a:t>¿Qué es el Proyecto Transversal?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4D22143-F957-9C21-E0B1-6BAABA8AFFEB}"/>
              </a:ext>
            </a:extLst>
          </p:cNvPr>
          <p:cNvSpPr txBox="1"/>
          <p:nvPr/>
        </p:nvSpPr>
        <p:spPr>
          <a:xfrm rot="18434160">
            <a:off x="12325279" y="4681834"/>
            <a:ext cx="1699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/>
              <a:t>Micro</a:t>
            </a:r>
          </a:p>
          <a:p>
            <a:r>
              <a:rPr lang="es-ES" sz="1800" dirty="0"/>
              <a:t>programación de aula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EB0250E-EA4A-0952-4EF4-E36F62471F5E}"/>
              </a:ext>
            </a:extLst>
          </p:cNvPr>
          <p:cNvSpPr txBox="1"/>
          <p:nvPr/>
        </p:nvSpPr>
        <p:spPr>
          <a:xfrm rot="18434160">
            <a:off x="13377805" y="5920239"/>
            <a:ext cx="1521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/>
              <a:t>Cuaderno del </a:t>
            </a:r>
          </a:p>
          <a:p>
            <a:r>
              <a:rPr lang="es-ES" sz="1800" dirty="0"/>
              <a:t>Tutor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29C6B6C-029E-ACCC-C6CA-43DF696FD76D}"/>
              </a:ext>
            </a:extLst>
          </p:cNvPr>
          <p:cNvSpPr txBox="1"/>
          <p:nvPr/>
        </p:nvSpPr>
        <p:spPr>
          <a:xfrm>
            <a:off x="3771484" y="6819007"/>
            <a:ext cx="85218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 Proyecto Transversal parte de un briefing común a todas las asignaturas y especialidades del máster: </a:t>
            </a:r>
          </a:p>
          <a:p>
            <a:pPr algn="ctr"/>
            <a:r>
              <a:rPr lang="es-E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 trata de un caso práctico protagonizado por María Freire,  una docente que acaba de incorporarse a un centro educativo y tiene que enfrentarse a un conjunto de retos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 descr="Reloj con relleno sólido">
            <a:extLst>
              <a:ext uri="{FF2B5EF4-FFF2-40B4-BE49-F238E27FC236}">
                <a16:creationId xmlns:a16="http://schemas.microsoft.com/office/drawing/2014/main" id="{E83618E4-2ACE-5250-C5E3-59D3DDBF7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6227" y="1056694"/>
            <a:ext cx="914400" cy="914400"/>
          </a:xfrm>
          <a:prstGeom prst="rect">
            <a:avLst/>
          </a:prstGeom>
        </p:spPr>
      </p:pic>
      <p:pic>
        <p:nvPicPr>
          <p:cNvPr id="11" name="Gráfico 10" descr="Insignia de seguir con relleno sólido">
            <a:extLst>
              <a:ext uri="{FF2B5EF4-FFF2-40B4-BE49-F238E27FC236}">
                <a16:creationId xmlns:a16="http://schemas.microsoft.com/office/drawing/2014/main" id="{5BD7F091-6EE9-381C-0239-303BBB407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54011" y="1383268"/>
            <a:ext cx="914400" cy="914400"/>
          </a:xfrm>
          <a:prstGeom prst="rect">
            <a:avLst/>
          </a:prstGeom>
        </p:spPr>
      </p:pic>
      <p:pic>
        <p:nvPicPr>
          <p:cNvPr id="14" name="Gráfico 13" descr="Reloj con relleno sólido">
            <a:extLst>
              <a:ext uri="{FF2B5EF4-FFF2-40B4-BE49-F238E27FC236}">
                <a16:creationId xmlns:a16="http://schemas.microsoft.com/office/drawing/2014/main" id="{444AA5EE-F334-0B5C-8C8A-53E4295F4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329" y="525262"/>
            <a:ext cx="914400" cy="914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99D8DE0-F8BC-3499-8108-8D3AF9613976}"/>
              </a:ext>
            </a:extLst>
          </p:cNvPr>
          <p:cNvSpPr txBox="1">
            <a:spLocks/>
          </p:cNvSpPr>
          <p:nvPr/>
        </p:nvSpPr>
        <p:spPr>
          <a:xfrm>
            <a:off x="822467" y="624192"/>
            <a:ext cx="13065001" cy="701716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algn="l" defTabSz="137140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4400" b="1" kern="1200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s-ES" dirty="0">
                <a:solidFill>
                  <a:srgbClr val="23AAD5"/>
                </a:solidFill>
              </a:rPr>
              <a:t>¿Qué es el Proyecto Transversal?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97127FD-C588-DEC2-F048-C91E5E01029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5800" y="5143500"/>
            <a:ext cx="7880073" cy="4944453"/>
          </a:xfrm>
          <a:prstGeom prst="rect">
            <a:avLst/>
          </a:prstGeom>
        </p:spPr>
      </p:pic>
      <p:pic>
        <p:nvPicPr>
          <p:cNvPr id="9" name="Imagen 8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7332A13-B86D-91F4-0B7D-1EF48FECF13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965" y="2176066"/>
            <a:ext cx="9149083" cy="5092652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6263FC0A-9FA8-7249-41EF-52810348F6B0}"/>
              </a:ext>
            </a:extLst>
          </p:cNvPr>
          <p:cNvSpPr txBox="1"/>
          <p:nvPr/>
        </p:nvSpPr>
        <p:spPr>
          <a:xfrm>
            <a:off x="15363355" y="8067385"/>
            <a:ext cx="2571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accent1"/>
                </a:solidFill>
              </a:rPr>
              <a:t>Clica</a:t>
            </a:r>
            <a:r>
              <a:rPr lang="es-ES" sz="1600" b="1" dirty="0"/>
              <a:t> en cada asignatura </a:t>
            </a:r>
          </a:p>
          <a:p>
            <a:pPr algn="ctr"/>
            <a:r>
              <a:rPr lang="es-ES" sz="1600" b="1" dirty="0"/>
              <a:t> para conocer qué actividades deberás realizar y qué relación tienen entre sí</a:t>
            </a:r>
          </a:p>
        </p:txBody>
      </p:sp>
      <p:sp>
        <p:nvSpPr>
          <p:cNvPr id="24" name="Flecha derecha 23">
            <a:extLst>
              <a:ext uri="{FF2B5EF4-FFF2-40B4-BE49-F238E27FC236}">
                <a16:creationId xmlns:a16="http://schemas.microsoft.com/office/drawing/2014/main" id="{2F668D5D-FAF7-E976-EC6C-FF76579A347A}"/>
              </a:ext>
            </a:extLst>
          </p:cNvPr>
          <p:cNvSpPr/>
          <p:nvPr/>
        </p:nvSpPr>
        <p:spPr>
          <a:xfrm flipH="1" flipV="1">
            <a:off x="14954602" y="8584581"/>
            <a:ext cx="408753" cy="144523"/>
          </a:xfrm>
          <a:prstGeom prst="rightArrow">
            <a:avLst/>
          </a:prstGeom>
          <a:solidFill>
            <a:srgbClr val="FFD9A5"/>
          </a:solidFill>
        </p:spPr>
        <p:txBody>
          <a:bodyPr wrap="square" rtlCol="0" anchor="ctr">
            <a:spAutoFit/>
          </a:bodyPr>
          <a:lstStyle/>
          <a:p>
            <a:pPr algn="ctr"/>
            <a:endParaRPr lang="es-ES" sz="3200" err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25" name="Flecha en U 24">
            <a:extLst>
              <a:ext uri="{FF2B5EF4-FFF2-40B4-BE49-F238E27FC236}">
                <a16:creationId xmlns:a16="http://schemas.microsoft.com/office/drawing/2014/main" id="{586F570A-B67E-60AB-0C37-FCF1D0408BAA}"/>
              </a:ext>
            </a:extLst>
          </p:cNvPr>
          <p:cNvSpPr/>
          <p:nvPr/>
        </p:nvSpPr>
        <p:spPr>
          <a:xfrm flipH="1">
            <a:off x="9429198" y="4447238"/>
            <a:ext cx="784307" cy="550308"/>
          </a:xfrm>
          <a:prstGeom prst="uturnArrow">
            <a:avLst>
              <a:gd name="adj1" fmla="val 0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txBody>
          <a:bodyPr wrap="square" rtlCol="0" anchor="ctr">
            <a:spAutoFit/>
          </a:bodyPr>
          <a:lstStyle/>
          <a:p>
            <a:pPr algn="ctr"/>
            <a:endParaRPr lang="es-ES" sz="3200" err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26" name="Flecha izquierda 25">
            <a:extLst>
              <a:ext uri="{FF2B5EF4-FFF2-40B4-BE49-F238E27FC236}">
                <a16:creationId xmlns:a16="http://schemas.microsoft.com/office/drawing/2014/main" id="{921E11FB-115E-1DB5-4C65-EC9673E65A20}"/>
              </a:ext>
            </a:extLst>
          </p:cNvPr>
          <p:cNvSpPr/>
          <p:nvPr/>
        </p:nvSpPr>
        <p:spPr>
          <a:xfrm rot="10800000">
            <a:off x="7357309" y="7618213"/>
            <a:ext cx="1504593" cy="1110891"/>
          </a:xfrm>
          <a:prstGeom prst="leftArrow">
            <a:avLst/>
          </a:prstGeom>
          <a:solidFill>
            <a:srgbClr val="FFD9A5"/>
          </a:solidFill>
        </p:spPr>
        <p:txBody>
          <a:bodyPr wrap="square" rtlCol="0" anchor="ctr">
            <a:spAutoFit/>
          </a:bodyPr>
          <a:lstStyle/>
          <a:p>
            <a:pPr algn="ctr"/>
            <a:endParaRPr lang="es-ES" sz="3200" err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4D9850D-98A0-5E65-770B-A2AA49127BE0}"/>
              </a:ext>
            </a:extLst>
          </p:cNvPr>
          <p:cNvSpPr txBox="1"/>
          <p:nvPr/>
        </p:nvSpPr>
        <p:spPr>
          <a:xfrm>
            <a:off x="10614968" y="1424838"/>
            <a:ext cx="3388771" cy="31700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4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/>
              <a:t>El Proyecto Transversal, común para las asignaturas de especialidad, </a:t>
            </a:r>
            <a:r>
              <a:rPr lang="es-ES" sz="2000" dirty="0"/>
              <a:t>es una </a:t>
            </a:r>
            <a:r>
              <a:rPr lang="es-ES" sz="2000" b="1" dirty="0">
                <a:solidFill>
                  <a:schemeClr val="accent1"/>
                </a:solidFill>
              </a:rPr>
              <a:t>Diseño de una actividad innovadora </a:t>
            </a:r>
            <a:r>
              <a:rPr lang="es-ES" sz="2000" dirty="0"/>
              <a:t>(se entrega </a:t>
            </a:r>
            <a:r>
              <a:rPr lang="es-ES" sz="2000" b="1" dirty="0"/>
              <a:t>un único documento en la Semana 13</a:t>
            </a:r>
            <a:r>
              <a:rPr lang="es-ES" sz="2000" dirty="0"/>
              <a:t>). Cada profesor corrige la parte del proyecto que corresponde a su asignatura.</a:t>
            </a:r>
          </a:p>
        </p:txBody>
      </p:sp>
    </p:spTree>
    <p:extLst>
      <p:ext uri="{BB962C8B-B14F-4D97-AF65-F5344CB8AC3E}">
        <p14:creationId xmlns:p14="http://schemas.microsoft.com/office/powerpoint/2010/main" val="3841545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 descr="Reloj con relleno sólido">
            <a:extLst>
              <a:ext uri="{FF2B5EF4-FFF2-40B4-BE49-F238E27FC236}">
                <a16:creationId xmlns:a16="http://schemas.microsoft.com/office/drawing/2014/main" id="{E83618E4-2ACE-5250-C5E3-59D3DDBF7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6227" y="1056694"/>
            <a:ext cx="914400" cy="914400"/>
          </a:xfrm>
          <a:prstGeom prst="rect">
            <a:avLst/>
          </a:prstGeom>
        </p:spPr>
      </p:pic>
      <p:pic>
        <p:nvPicPr>
          <p:cNvPr id="11" name="Gráfico 10" descr="Insignia de seguir con relleno sólido">
            <a:extLst>
              <a:ext uri="{FF2B5EF4-FFF2-40B4-BE49-F238E27FC236}">
                <a16:creationId xmlns:a16="http://schemas.microsoft.com/office/drawing/2014/main" id="{5BD7F091-6EE9-381C-0239-303BBB407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54011" y="1383268"/>
            <a:ext cx="914400" cy="914400"/>
          </a:xfrm>
          <a:prstGeom prst="rect">
            <a:avLst/>
          </a:prstGeom>
        </p:spPr>
      </p:pic>
      <p:pic>
        <p:nvPicPr>
          <p:cNvPr id="14" name="Gráfico 13" descr="Reloj con relleno sólido">
            <a:extLst>
              <a:ext uri="{FF2B5EF4-FFF2-40B4-BE49-F238E27FC236}">
                <a16:creationId xmlns:a16="http://schemas.microsoft.com/office/drawing/2014/main" id="{444AA5EE-F334-0B5C-8C8A-53E4295F4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329" y="525262"/>
            <a:ext cx="914400" cy="914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99D8DE0-F8BC-3499-8108-8D3AF9613976}"/>
              </a:ext>
            </a:extLst>
          </p:cNvPr>
          <p:cNvSpPr txBox="1">
            <a:spLocks/>
          </p:cNvSpPr>
          <p:nvPr/>
        </p:nvSpPr>
        <p:spPr>
          <a:xfrm>
            <a:off x="822467" y="624192"/>
            <a:ext cx="13065001" cy="701716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algn="l" defTabSz="137140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4400" b="1" kern="1200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marR="0" lvl="0" indent="0" algn="l" defTabSz="137140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1" i="0" u="none" strike="noStrike" kern="1200" cap="none" spc="0" normalizeH="0" baseline="0" noProof="0" dirty="0">
                <a:ln>
                  <a:noFill/>
                </a:ln>
                <a:solidFill>
                  <a:srgbClr val="23AAD5"/>
                </a:solidFill>
                <a:effectLst/>
                <a:uLnTx/>
                <a:uFillTx/>
                <a:latin typeface="Franklin Gothic Book"/>
                <a:ea typeface="Roboto Condensed" panose="02000000000000000000" pitchFamily="2" charset="0"/>
                <a:cs typeface="+mn-cs"/>
              </a:rPr>
              <a:t>¿Qué es el Proyecto?</a:t>
            </a:r>
          </a:p>
        </p:txBody>
      </p:sp>
      <p:sp>
        <p:nvSpPr>
          <p:cNvPr id="25" name="Flecha en U 24">
            <a:extLst>
              <a:ext uri="{FF2B5EF4-FFF2-40B4-BE49-F238E27FC236}">
                <a16:creationId xmlns:a16="http://schemas.microsoft.com/office/drawing/2014/main" id="{586F570A-B67E-60AB-0C37-FCF1D0408BAA}"/>
              </a:ext>
            </a:extLst>
          </p:cNvPr>
          <p:cNvSpPr/>
          <p:nvPr/>
        </p:nvSpPr>
        <p:spPr>
          <a:xfrm flipH="1">
            <a:off x="9429198" y="4447238"/>
            <a:ext cx="784307" cy="550308"/>
          </a:xfrm>
          <a:prstGeom prst="uturnArrow">
            <a:avLst>
              <a:gd name="adj1" fmla="val 0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txBody>
          <a:bodyPr wrap="square" rtlCol="0" anchor="ctr">
            <a:spAutoFit/>
          </a:bodyPr>
          <a:lstStyle/>
          <a:p>
            <a:pPr marL="0" marR="0" lvl="0" indent="0" algn="ctr" defTabSz="13714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200" b="0" i="0" u="none" strike="noStrike" kern="1200" cap="none" spc="0" normalizeH="0" baseline="0" noProof="0" err="1">
              <a:ln>
                <a:noFill/>
              </a:ln>
              <a:solidFill>
                <a:srgbClr val="858591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6AEDCAB4-DEA8-4DCA-F6B1-AED5B1EC424C}"/>
              </a:ext>
            </a:extLst>
          </p:cNvPr>
          <p:cNvSpPr/>
          <p:nvPr/>
        </p:nvSpPr>
        <p:spPr>
          <a:xfrm>
            <a:off x="16456368" y="7770875"/>
            <a:ext cx="1532420" cy="2265714"/>
          </a:xfrm>
          <a:custGeom>
            <a:avLst/>
            <a:gdLst/>
            <a:ahLst/>
            <a:cxnLst/>
            <a:rect l="l" t="t" r="r" b="b"/>
            <a:pathLst>
              <a:path w="6477759" h="9629101">
                <a:moveTo>
                  <a:pt x="0" y="0"/>
                </a:moveTo>
                <a:lnTo>
                  <a:pt x="6477759" y="0"/>
                </a:lnTo>
                <a:lnTo>
                  <a:pt x="6477759" y="9629101"/>
                </a:lnTo>
                <a:lnTo>
                  <a:pt x="0" y="96291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13714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700" b="0" i="0" u="none" strike="noStrike" kern="1200" cap="none" spc="0" normalizeH="0" baseline="0" noProof="0">
              <a:ln>
                <a:noFill/>
              </a:ln>
              <a:solidFill>
                <a:srgbClr val="0C0B0B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50A3ECAA-4B0C-58B6-7AA3-6FD73EA877A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9935" y="1584642"/>
            <a:ext cx="5995535" cy="2384293"/>
          </a:xfrm>
          <a:prstGeom prst="rect">
            <a:avLst/>
          </a:prstGeom>
        </p:spPr>
      </p:pic>
      <p:pic>
        <p:nvPicPr>
          <p:cNvPr id="9" name="Imagen 8" descr="Escala de tiempo&#10;&#10;Descripción generada automáticamente">
            <a:extLst>
              <a:ext uri="{FF2B5EF4-FFF2-40B4-BE49-F238E27FC236}">
                <a16:creationId xmlns:a16="http://schemas.microsoft.com/office/drawing/2014/main" id="{7A51A4DB-FB11-E939-86E4-11CD7ED1C02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2831" y="4211344"/>
            <a:ext cx="6109741" cy="2300232"/>
          </a:xfrm>
          <a:prstGeom prst="rect">
            <a:avLst/>
          </a:prstGeom>
        </p:spPr>
      </p:pic>
      <p:pic>
        <p:nvPicPr>
          <p:cNvPr id="12" name="Imagen 11" descr="Imagen de la pantalla de un celular&#10;&#10;Descripción generada automáticamente con confianza baja">
            <a:extLst>
              <a:ext uri="{FF2B5EF4-FFF2-40B4-BE49-F238E27FC236}">
                <a16:creationId xmlns:a16="http://schemas.microsoft.com/office/drawing/2014/main" id="{11EA2E53-A760-56E5-A214-8FD34462719C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5729" y="6859342"/>
            <a:ext cx="5995535" cy="2150878"/>
          </a:xfrm>
          <a:prstGeom prst="rect">
            <a:avLst/>
          </a:prstGeom>
        </p:spPr>
      </p:pic>
      <p:sp>
        <p:nvSpPr>
          <p:cNvPr id="4" name="Marco 3">
            <a:extLst>
              <a:ext uri="{FF2B5EF4-FFF2-40B4-BE49-F238E27FC236}">
                <a16:creationId xmlns:a16="http://schemas.microsoft.com/office/drawing/2014/main" id="{CD0B10FC-F827-A9B6-BEF1-D41F3D66C7CB}"/>
              </a:ext>
            </a:extLst>
          </p:cNvPr>
          <p:cNvSpPr/>
          <p:nvPr/>
        </p:nvSpPr>
        <p:spPr>
          <a:xfrm>
            <a:off x="8516471" y="8156205"/>
            <a:ext cx="7584141" cy="777061"/>
          </a:xfrm>
          <a:prstGeom prst="frame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endParaRPr lang="es-ES_tradnl" sz="3200" dirty="0" err="1"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D8578A9-1A7A-E187-C71E-5BBBED7C95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7775" y="328266"/>
            <a:ext cx="5220000" cy="226133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0506E88-6AA5-D39A-FDE5-2D09E43C9C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7775" y="2734437"/>
            <a:ext cx="5220000" cy="238461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6FB87FD-41F7-B1FF-18DD-221DE6CFA3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7775" y="5207003"/>
            <a:ext cx="5220000" cy="227191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E80FD69F-7778-932F-2FB7-A84BA1C092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7775" y="7583319"/>
            <a:ext cx="5220000" cy="262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8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DB181CB-6AB7-AA7B-7EAE-F9D72622BEA3}"/>
              </a:ext>
            </a:extLst>
          </p:cNvPr>
          <p:cNvSpPr txBox="1">
            <a:spLocks/>
          </p:cNvSpPr>
          <p:nvPr/>
        </p:nvSpPr>
        <p:spPr>
          <a:xfrm>
            <a:off x="822467" y="624192"/>
            <a:ext cx="13065001" cy="701716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algn="l" defTabSz="137140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4400" b="1" kern="1200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s-ES" dirty="0">
                <a:solidFill>
                  <a:srgbClr val="23AAD5"/>
                </a:solidFill>
              </a:rPr>
              <a:t>¿Qué es la Actividad Inicial?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67253AD-02E4-D9AC-AC0B-9A363810EA94}"/>
              </a:ext>
            </a:extLst>
          </p:cNvPr>
          <p:cNvSpPr txBox="1"/>
          <p:nvPr/>
        </p:nvSpPr>
        <p:spPr>
          <a:xfrm>
            <a:off x="1212165" y="2367389"/>
            <a:ext cx="7303477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tx2"/>
                </a:solidFill>
              </a:rPr>
              <a:t> </a:t>
            </a:r>
            <a:r>
              <a:rPr lang="es-ES" sz="3600" b="1" dirty="0">
                <a:solidFill>
                  <a:schemeClr val="accent1">
                    <a:lumMod val="50000"/>
                  </a:schemeClr>
                </a:solidFill>
              </a:rPr>
              <a:t>ASIGNATURA (¿¿??) :</a:t>
            </a:r>
            <a:br>
              <a:rPr lang="es-ES" sz="36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s-ES" sz="3600" b="1" dirty="0">
                <a:solidFill>
                  <a:schemeClr val="accent1">
                    <a:lumMod val="50000"/>
                  </a:schemeClr>
                </a:solidFill>
              </a:rPr>
              <a:t>ACTIVIDAD INICIAL (¿¿?? puntos)</a:t>
            </a:r>
          </a:p>
          <a:p>
            <a:endParaRPr lang="es-ES" sz="2400" dirty="0">
              <a:solidFill>
                <a:schemeClr val="tx2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es-ES" sz="2400" dirty="0"/>
              <a:t>Es una actividad que entregan </a:t>
            </a:r>
            <a:r>
              <a:rPr lang="es-ES" sz="2400" b="1" dirty="0"/>
              <a:t>antes</a:t>
            </a:r>
            <a:r>
              <a:rPr lang="es-ES" sz="2400" dirty="0"/>
              <a:t> de la Microprogramación de aula del proyecto transversal. </a:t>
            </a:r>
          </a:p>
          <a:p>
            <a:pPr algn="just"/>
            <a:endParaRPr lang="es-ES" sz="2400" dirty="0"/>
          </a:p>
          <a:p>
            <a:pPr marL="342900" indent="-342900" algn="just">
              <a:buFontTx/>
              <a:buChar char="-"/>
            </a:pPr>
            <a:r>
              <a:rPr lang="es-ES" sz="2400" b="1" dirty="0"/>
              <a:t>Guarda relación con lo que tendrán que hacer en la tarea transversal</a:t>
            </a:r>
            <a:r>
              <a:rPr lang="es-ES" sz="2400" dirty="0"/>
              <a:t>: es una base, complemento o preparación para lo que se les pide en el proyecto.</a:t>
            </a:r>
          </a:p>
          <a:p>
            <a:pPr algn="just"/>
            <a:endParaRPr lang="es-ES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06A7DB-EE49-F2B4-D68E-C927D29794F0}"/>
              </a:ext>
            </a:extLst>
          </p:cNvPr>
          <p:cNvSpPr txBox="1"/>
          <p:nvPr/>
        </p:nvSpPr>
        <p:spPr>
          <a:xfrm>
            <a:off x="8958404" y="2367389"/>
            <a:ext cx="7303477" cy="37856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accent1">
                    <a:lumMod val="50000"/>
                  </a:schemeClr>
                </a:solidFill>
              </a:rPr>
              <a:t>PROYECTO TRANSVERSAL (¿¿??):</a:t>
            </a:r>
            <a:br>
              <a:rPr lang="es-ES" sz="36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s-ES" sz="3600" b="1" dirty="0">
                <a:solidFill>
                  <a:schemeClr val="accent1">
                    <a:lumMod val="50000"/>
                  </a:schemeClr>
                </a:solidFill>
              </a:rPr>
              <a:t>(¿¿?? puntos)</a:t>
            </a:r>
          </a:p>
          <a:p>
            <a:pPr algn="just"/>
            <a:endParaRPr lang="es-ES" sz="2400" dirty="0">
              <a:solidFill>
                <a:schemeClr val="tx2"/>
              </a:solidFill>
            </a:endParaRPr>
          </a:p>
          <a:p>
            <a:pPr algn="just"/>
            <a:endParaRPr lang="es-ES" sz="2400" dirty="0"/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Esta asignatura se centrará en la parte de….</a:t>
            </a:r>
          </a:p>
          <a:p>
            <a:pPr algn="just"/>
            <a:endParaRPr lang="es-ES" sz="2400" dirty="0"/>
          </a:p>
          <a:p>
            <a:pPr algn="just"/>
            <a:endParaRPr lang="es-ES" sz="2400" dirty="0"/>
          </a:p>
          <a:p>
            <a:pPr algn="just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979874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57C9B-3B2B-8204-9E89-0EF5FA54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3C33CFE-44DE-1311-433F-9D9CB27E4629}"/>
              </a:ext>
            </a:extLst>
          </p:cNvPr>
          <p:cNvSpPr txBox="1">
            <a:spLocks/>
          </p:cNvSpPr>
          <p:nvPr/>
        </p:nvSpPr>
        <p:spPr>
          <a:xfrm>
            <a:off x="822467" y="624192"/>
            <a:ext cx="13065001" cy="701716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algn="l" defTabSz="137140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4400" b="1" kern="1200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s-ES" dirty="0">
                <a:solidFill>
                  <a:srgbClr val="23AAD5"/>
                </a:solidFill>
              </a:rPr>
              <a:t>¿Qué es la Actividad Proyecto?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949A60B-9B09-5655-3483-68052E14CC61}"/>
              </a:ext>
            </a:extLst>
          </p:cNvPr>
          <p:cNvSpPr txBox="1"/>
          <p:nvPr/>
        </p:nvSpPr>
        <p:spPr>
          <a:xfrm>
            <a:off x="1212165" y="3591278"/>
            <a:ext cx="7303477" cy="30469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tx2"/>
                </a:solidFill>
              </a:rPr>
              <a:t> </a:t>
            </a:r>
            <a:r>
              <a:rPr lang="es-ES" sz="3600" b="1" dirty="0">
                <a:solidFill>
                  <a:schemeClr val="accent1">
                    <a:lumMod val="50000"/>
                  </a:schemeClr>
                </a:solidFill>
              </a:rPr>
              <a:t>Proyecto de la asignatura (¿¿?? puntos)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Esta asignatura se centrará en la parte ….</a:t>
            </a:r>
          </a:p>
          <a:p>
            <a:pPr algn="just"/>
            <a:endParaRPr lang="es-ES" sz="2400" dirty="0"/>
          </a:p>
          <a:p>
            <a:pPr algn="just"/>
            <a:endParaRPr lang="es-ES" sz="2400" dirty="0"/>
          </a:p>
          <a:p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BA8A4E-72B6-82B9-2D3C-19C9FC4BFD45}"/>
              </a:ext>
            </a:extLst>
          </p:cNvPr>
          <p:cNvSpPr txBox="1"/>
          <p:nvPr/>
        </p:nvSpPr>
        <p:spPr>
          <a:xfrm>
            <a:off x="9000607" y="3591278"/>
            <a:ext cx="7303477" cy="28623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accent1">
                    <a:lumMod val="50000"/>
                  </a:schemeClr>
                </a:solidFill>
              </a:rPr>
              <a:t>RÚBRICA</a:t>
            </a:r>
          </a:p>
          <a:p>
            <a:pPr algn="just"/>
            <a:endParaRPr lang="es-ES" sz="2400" dirty="0">
              <a:solidFill>
                <a:schemeClr val="tx2"/>
              </a:solidFill>
            </a:endParaRPr>
          </a:p>
          <a:p>
            <a:pPr algn="just"/>
            <a:r>
              <a:rPr lang="es-ES" sz="2400" dirty="0"/>
              <a:t>La rúbrica de esta asignatura solo evaluará la parte relacionada con ¿¿?? y los aspectos relacionados con el mismo.</a:t>
            </a:r>
          </a:p>
          <a:p>
            <a:pPr algn="just"/>
            <a:endParaRPr lang="es-ES" sz="2400" dirty="0"/>
          </a:p>
          <a:p>
            <a:pPr algn="just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10757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F1A71-B9E6-0A56-41F4-E8C9DDA2F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25B59F-41A2-911B-8638-E48F19A8C737}"/>
              </a:ext>
            </a:extLst>
          </p:cNvPr>
          <p:cNvSpPr/>
          <p:nvPr/>
        </p:nvSpPr>
        <p:spPr>
          <a:xfrm rot="5400000" flipH="1" flipV="1">
            <a:off x="4000498" y="-4000500"/>
            <a:ext cx="10287000" cy="1828800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rtlCol="0" anchor="ctr"/>
          <a:lstStyle/>
          <a:p>
            <a:pPr algn="ctr"/>
            <a:endParaRPr lang="es-E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B630F-AC1F-6DB5-6354-AE53FF1BBE50}"/>
              </a:ext>
            </a:extLst>
          </p:cNvPr>
          <p:cNvSpPr txBox="1"/>
          <p:nvPr/>
        </p:nvSpPr>
        <p:spPr>
          <a:xfrm>
            <a:off x="685800" y="4212478"/>
            <a:ext cx="16071574" cy="2800753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pPr algn="ctr"/>
            <a:r>
              <a:rPr lang="es-ES_tradnl" sz="8800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¿Cómo es nuestro modelo de evaluación?</a:t>
            </a:r>
          </a:p>
        </p:txBody>
      </p:sp>
    </p:spTree>
    <p:extLst>
      <p:ext uri="{BB962C8B-B14F-4D97-AF65-F5344CB8AC3E}">
        <p14:creationId xmlns:p14="http://schemas.microsoft.com/office/powerpoint/2010/main" val="2523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5C780-A17A-98C9-04BA-B177202E2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307CE9A-73BB-A60B-3035-98B218EC91C5}"/>
              </a:ext>
            </a:extLst>
          </p:cNvPr>
          <p:cNvSpPr txBox="1"/>
          <p:nvPr/>
        </p:nvSpPr>
        <p:spPr>
          <a:xfrm>
            <a:off x="1788696" y="2129247"/>
            <a:ext cx="6718041" cy="7109639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fontAlgn="base"/>
            <a:br>
              <a:rPr lang="es-ES" sz="5400" i="0" u="none" strike="noStrike" dirty="0">
                <a:solidFill>
                  <a:srgbClr val="009BD3"/>
                </a:solidFill>
                <a:effectLst/>
                <a:latin typeface="Calibri" panose="020F0502020204030204" pitchFamily="34" charset="0"/>
              </a:rPr>
            </a:br>
            <a:r>
              <a:rPr lang="es-ES" sz="3600" b="1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Evaluación continua</a:t>
            </a:r>
          </a:p>
          <a:p>
            <a:pPr algn="ctr" fontAlgn="base"/>
            <a:r>
              <a:rPr lang="es-ES" sz="3600" b="1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(40%)</a:t>
            </a:r>
          </a:p>
          <a:p>
            <a:pPr algn="just" fontAlgn="base"/>
            <a:endParaRPr lang="es-ES" sz="3600" b="0" dirty="0">
              <a:solidFill>
                <a:srgbClr val="009BD3"/>
              </a:solidFill>
              <a:latin typeface="Calibri" panose="020F0502020204030204" pitchFamily="34" charset="0"/>
            </a:endParaRPr>
          </a:p>
          <a:p>
            <a:pPr marL="571500" indent="-571500" algn="just" fontAlgn="base">
              <a:buFont typeface="Arial" panose="020B0604020202020204" pitchFamily="34" charset="0"/>
              <a:buChar char="•"/>
            </a:pPr>
            <a:r>
              <a:rPr lang="es-ES" sz="3600" dirty="0">
                <a:solidFill>
                  <a:srgbClr val="4A879B"/>
                </a:solidFill>
                <a:latin typeface="Calibri" panose="020F0502020204030204" pitchFamily="34" charset="0"/>
              </a:rPr>
              <a:t>ACTIVIDADES (2 por asignatura)</a:t>
            </a:r>
          </a:p>
          <a:p>
            <a:pPr marL="571500" indent="-571500" algn="just" fontAlgn="base">
              <a:buFont typeface="Arial" panose="020B0604020202020204" pitchFamily="34" charset="0"/>
              <a:buChar char="•"/>
            </a:pPr>
            <a:r>
              <a:rPr lang="es-ES" sz="3600" b="0" dirty="0">
                <a:solidFill>
                  <a:srgbClr val="4A879B"/>
                </a:solidFill>
                <a:latin typeface="Calibri" panose="020F0502020204030204" pitchFamily="34" charset="0"/>
              </a:rPr>
              <a:t>ASISTENCIAS (no obligatorias, pero asistir a 2 clases suma </a:t>
            </a:r>
            <a:r>
              <a:rPr lang="es-ES" sz="3600" b="0" dirty="0">
                <a:solidFill>
                  <a:srgbClr val="FF0000"/>
                </a:solidFill>
                <a:latin typeface="Calibri" panose="020F0502020204030204" pitchFamily="34" charset="0"/>
              </a:rPr>
              <a:t>1 punto en la evaluación (revisar en la PGA)</a:t>
            </a:r>
            <a:r>
              <a:rPr lang="es-ES" sz="3600" b="0" dirty="0">
                <a:solidFill>
                  <a:srgbClr val="4A879B"/>
                </a:solidFill>
                <a:latin typeface="Calibri" panose="020F0502020204030204" pitchFamily="34" charset="0"/>
              </a:rPr>
              <a:t>)  </a:t>
            </a:r>
          </a:p>
          <a:p>
            <a:pPr marL="571500" indent="-571500" algn="just" fontAlgn="base">
              <a:buFont typeface="Arial" panose="020B0604020202020204" pitchFamily="34" charset="0"/>
              <a:buChar char="•"/>
            </a:pPr>
            <a:r>
              <a:rPr lang="es-ES" sz="3600" b="0" dirty="0">
                <a:solidFill>
                  <a:srgbClr val="4A879B"/>
                </a:solidFill>
                <a:latin typeface="Calibri" panose="020F0502020204030204" pitchFamily="34" charset="0"/>
              </a:rPr>
              <a:t>TEST AUTOEVALUABLES (</a:t>
            </a:r>
            <a:r>
              <a:rPr lang="es-ES" sz="3600" b="0" dirty="0">
                <a:solidFill>
                  <a:srgbClr val="FF0000"/>
                </a:solidFill>
                <a:latin typeface="Calibri" panose="020F0502020204030204" pitchFamily="34" charset="0"/>
              </a:rPr>
              <a:t>hasta 1 punto (revisar en la PGA)</a:t>
            </a:r>
            <a:r>
              <a:rPr lang="es-ES" sz="3600" b="0" dirty="0">
                <a:solidFill>
                  <a:srgbClr val="4A879B"/>
                </a:solidFill>
                <a:latin typeface="Calibri" panose="020F0502020204030204" pitchFamily="34" charset="0"/>
              </a:rPr>
              <a:t>)</a:t>
            </a:r>
          </a:p>
          <a:p>
            <a:pPr algn="just" fontAlgn="base"/>
            <a:endParaRPr kumimoji="0" lang="es-ES" sz="4800" b="0" i="0" u="none" strike="noStrike" cap="none" spc="0" normalizeH="0" baseline="0" dirty="0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Alt Gothic ATF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177E356-C146-A9E9-6E1A-D880954B2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412"/>
            <a:ext cx="7630438" cy="1311114"/>
          </a:xfrm>
        </p:spPr>
        <p:txBody>
          <a:bodyPr/>
          <a:lstStyle/>
          <a:p>
            <a:br>
              <a:rPr lang="es-ES_tradnl"/>
            </a:br>
            <a:endParaRPr lang="es-ES_tradnl">
              <a:solidFill>
                <a:srgbClr val="00566C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9826E25-E9EB-A422-A3F9-A14FD33731EA}"/>
              </a:ext>
            </a:extLst>
          </p:cNvPr>
          <p:cNvSpPr txBox="1"/>
          <p:nvPr/>
        </p:nvSpPr>
        <p:spPr>
          <a:xfrm>
            <a:off x="9597019" y="2300347"/>
            <a:ext cx="8452561" cy="4893647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 fontAlgn="base"/>
            <a:br>
              <a:rPr lang="es-ES" sz="5400" i="0" u="none" strike="noStrike" dirty="0">
                <a:solidFill>
                  <a:srgbClr val="009BD3"/>
                </a:solidFill>
                <a:effectLst/>
                <a:latin typeface="Calibri" panose="020F0502020204030204" pitchFamily="34" charset="0"/>
              </a:rPr>
            </a:br>
            <a:r>
              <a:rPr lang="es-ES" sz="3600" b="1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Evaluación final</a:t>
            </a:r>
          </a:p>
          <a:p>
            <a:pPr algn="ctr" fontAlgn="base"/>
            <a:r>
              <a:rPr lang="es-ES" sz="3600" b="1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(60%)</a:t>
            </a:r>
          </a:p>
          <a:p>
            <a:pPr algn="just" fontAlgn="base"/>
            <a:endParaRPr lang="es-ES" sz="3600" b="0" dirty="0">
              <a:solidFill>
                <a:srgbClr val="009BD3"/>
              </a:solidFill>
              <a:latin typeface="Calibri" panose="020F0502020204030204" pitchFamily="34" charset="0"/>
            </a:endParaRPr>
          </a:p>
          <a:p>
            <a:pPr algn="just" fontAlgn="base"/>
            <a:endParaRPr lang="es-ES" sz="3600" dirty="0">
              <a:solidFill>
                <a:srgbClr val="4A879B"/>
              </a:solidFill>
              <a:latin typeface="Calibri" panose="020F0502020204030204" pitchFamily="34" charset="0"/>
            </a:endParaRPr>
          </a:p>
          <a:p>
            <a:pPr marL="571500" indent="-571500" algn="just" fontAlgn="base">
              <a:buFont typeface="Arial" panose="020B0604020202020204" pitchFamily="34" charset="0"/>
              <a:buChar char="•"/>
            </a:pPr>
            <a:r>
              <a:rPr lang="es-ES" sz="3600" dirty="0">
                <a:solidFill>
                  <a:srgbClr val="4A879B"/>
                </a:solidFill>
                <a:latin typeface="Calibri" panose="020F0502020204030204" pitchFamily="34" charset="0"/>
              </a:rPr>
              <a:t>EXAMEN: ACTIVIDAD DE CASO PRÁCTICO</a:t>
            </a:r>
          </a:p>
          <a:p>
            <a:pPr algn="just" fontAlgn="base"/>
            <a:r>
              <a:rPr lang="es-ES" sz="3600" b="0" dirty="0">
                <a:solidFill>
                  <a:srgbClr val="4A879B"/>
                </a:solidFill>
                <a:latin typeface="Calibri" panose="020F0502020204030204" pitchFamily="34" charset="0"/>
              </a:rPr>
              <a:t>             Modalidad online/presencial </a:t>
            </a:r>
          </a:p>
          <a:p>
            <a:pPr algn="just" fontAlgn="base"/>
            <a:endParaRPr kumimoji="0" lang="es-ES" sz="4800" b="0" i="0" u="none" strike="noStrike" cap="none" spc="0" normalizeH="0" baseline="0" dirty="0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Alt Gothic ATF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C3688B-E966-1E8A-16F0-B20E43DACF49}"/>
              </a:ext>
            </a:extLst>
          </p:cNvPr>
          <p:cNvSpPr txBox="1">
            <a:spLocks/>
          </p:cNvSpPr>
          <p:nvPr/>
        </p:nvSpPr>
        <p:spPr>
          <a:xfrm>
            <a:off x="1028699" y="723812"/>
            <a:ext cx="11484421" cy="1311114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algn="l" defTabSz="137140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4400" b="1" kern="1200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¿Cómo es nuestro modelo de evaluación?</a:t>
            </a:r>
            <a:br>
              <a:rPr lang="es-ES_tradnl" dirty="0"/>
            </a:br>
            <a:endParaRPr lang="es-ES_tradnl" dirty="0">
              <a:solidFill>
                <a:srgbClr val="00566C"/>
              </a:solidFill>
            </a:endParaRPr>
          </a:p>
        </p:txBody>
      </p:sp>
      <p:pic>
        <p:nvPicPr>
          <p:cNvPr id="5" name="Gráfico 4" descr="Aspiración con relleno sólido">
            <a:extLst>
              <a:ext uri="{FF2B5EF4-FFF2-40B4-BE49-F238E27FC236}">
                <a16:creationId xmlns:a16="http://schemas.microsoft.com/office/drawing/2014/main" id="{2FB03FE6-2144-7DAE-E9A8-5A12739E3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7224" y="7365093"/>
            <a:ext cx="2639591" cy="263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8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 descr="Engranajes contorno">
            <a:extLst>
              <a:ext uri="{FF2B5EF4-FFF2-40B4-BE49-F238E27FC236}">
                <a16:creationId xmlns:a16="http://schemas.microsoft.com/office/drawing/2014/main" id="{36A8D77C-1521-D1D6-80F4-0B5895B2D0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52124" y="6531571"/>
            <a:ext cx="3867724" cy="3867724"/>
          </a:xfrm>
          <a:prstGeom prst="rect">
            <a:avLst/>
          </a:prstGeom>
        </p:spPr>
      </p:pic>
      <p:sp>
        <p:nvSpPr>
          <p:cNvPr id="477" name="Google Shape;477;p99"/>
          <p:cNvSpPr/>
          <p:nvPr/>
        </p:nvSpPr>
        <p:spPr>
          <a:xfrm>
            <a:off x="7354967" y="1383268"/>
            <a:ext cx="6159782" cy="174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algn="ctr"/>
            <a:endParaRPr lang="es-ES" sz="4000" b="1" dirty="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just"/>
            <a:endParaRPr lang="es-ES" sz="5400" b="1" dirty="0">
              <a:solidFill>
                <a:srgbClr val="4A879B"/>
              </a:solidFill>
              <a:latin typeface="Aptos"/>
              <a:ea typeface="Times New Roman" panose="02020603050405020304" pitchFamily="18" charset="0"/>
            </a:endParaRPr>
          </a:p>
          <a:p>
            <a:pPr algn="just"/>
            <a:r>
              <a:rPr lang="es-ES" sz="5400" b="1" dirty="0">
                <a:solidFill>
                  <a:srgbClr val="4A879B"/>
                </a:solidFill>
                <a:latin typeface="Aptos"/>
                <a:ea typeface="Times New Roman" panose="02020603050405020304" pitchFamily="18" charset="0"/>
              </a:rPr>
              <a:t>ACTIVIDADES</a:t>
            </a:r>
          </a:p>
          <a:p>
            <a:pPr algn="ctr"/>
            <a:endParaRPr lang="es-ES" sz="2400" dirty="0"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pPr algn="ctr"/>
            <a:endParaRPr lang="es-ES" sz="2400" dirty="0">
              <a:solidFill>
                <a:schemeClr val="bg1"/>
              </a:solidFill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pPr marL="342900" indent="-342900" algn="ctr">
              <a:buAutoNum type="arabicPeriod"/>
            </a:pPr>
            <a:endParaRPr lang="es-ES" sz="1800" dirty="0">
              <a:solidFill>
                <a:schemeClr val="bg1"/>
              </a:solidFill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pPr marL="342900" indent="-342900" algn="ctr">
              <a:buAutoNum type="arabicPeriod"/>
            </a:pPr>
            <a:endParaRPr lang="es-ES" sz="18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s-ES" sz="3500" dirty="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sz="3500" dirty="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7" name="Gráfico 6" descr="Reloj con relleno sólido">
            <a:extLst>
              <a:ext uri="{FF2B5EF4-FFF2-40B4-BE49-F238E27FC236}">
                <a16:creationId xmlns:a16="http://schemas.microsoft.com/office/drawing/2014/main" id="{E83618E4-2ACE-5250-C5E3-59D3DDBF7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6227" y="1056694"/>
            <a:ext cx="914400" cy="914400"/>
          </a:xfrm>
          <a:prstGeom prst="rect">
            <a:avLst/>
          </a:prstGeom>
        </p:spPr>
      </p:pic>
      <p:pic>
        <p:nvPicPr>
          <p:cNvPr id="11" name="Gráfico 10" descr="Insignia de seguir con relleno sólido">
            <a:extLst>
              <a:ext uri="{FF2B5EF4-FFF2-40B4-BE49-F238E27FC236}">
                <a16:creationId xmlns:a16="http://schemas.microsoft.com/office/drawing/2014/main" id="{5BD7F091-6EE9-381C-0239-303BBB407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54011" y="1383268"/>
            <a:ext cx="914400" cy="914400"/>
          </a:xfrm>
          <a:prstGeom prst="rect">
            <a:avLst/>
          </a:prstGeom>
        </p:spPr>
      </p:pic>
      <p:pic>
        <p:nvPicPr>
          <p:cNvPr id="14" name="Gráfico 13" descr="Reloj con relleno sólido">
            <a:extLst>
              <a:ext uri="{FF2B5EF4-FFF2-40B4-BE49-F238E27FC236}">
                <a16:creationId xmlns:a16="http://schemas.microsoft.com/office/drawing/2014/main" id="{444AA5EE-F334-0B5C-8C8A-53E4295F4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329" y="525262"/>
            <a:ext cx="914400" cy="9144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C5A6573-1CE9-7C5D-EF6F-B401CC8F4FD9}"/>
              </a:ext>
            </a:extLst>
          </p:cNvPr>
          <p:cNvSpPr txBox="1"/>
          <p:nvPr/>
        </p:nvSpPr>
        <p:spPr>
          <a:xfrm>
            <a:off x="5935877" y="2833006"/>
            <a:ext cx="7355639" cy="5016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solidFill>
                  <a:srgbClr val="4A879B"/>
                </a:solidFill>
                <a:latin typeface="Aptos"/>
              </a:rPr>
              <a:t>Asignaturas de la especialidad</a:t>
            </a:r>
          </a:p>
          <a:p>
            <a:pPr algn="ctr"/>
            <a:endParaRPr lang="es-ES" sz="3200" dirty="0">
              <a:solidFill>
                <a:schemeClr val="tx1"/>
              </a:solidFill>
              <a:latin typeface="Aptos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chemeClr val="tx1"/>
                </a:solidFill>
                <a:latin typeface="Aptos"/>
              </a:rPr>
              <a:t>1 Actividad inicial en cada asignatura </a:t>
            </a:r>
            <a:r>
              <a:rPr lang="es-ES" sz="3200" dirty="0">
                <a:solidFill>
                  <a:srgbClr val="FF0000"/>
                </a:solidFill>
                <a:latin typeface="Aptos"/>
              </a:rPr>
              <a:t>(entrega semana …)</a:t>
            </a:r>
          </a:p>
          <a:p>
            <a:pPr algn="ctr"/>
            <a:r>
              <a:rPr lang="es-ES" sz="3200" dirty="0">
                <a:solidFill>
                  <a:schemeClr val="tx1"/>
                </a:solidFill>
                <a:latin typeface="Aptos"/>
              </a:rPr>
              <a:t>+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chemeClr val="tx1"/>
                </a:solidFill>
                <a:latin typeface="Aptos"/>
              </a:rPr>
              <a:t>1 Proyecto Transversal (Microprogramación de aula) común a las 4 asignaturas: se entrega en la semana 13 en un mismo documento para las 4 asignaturas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9D8DE0-F8BC-3499-8108-8D3AF9613976}"/>
              </a:ext>
            </a:extLst>
          </p:cNvPr>
          <p:cNvSpPr txBox="1">
            <a:spLocks/>
          </p:cNvSpPr>
          <p:nvPr/>
        </p:nvSpPr>
        <p:spPr>
          <a:xfrm>
            <a:off x="822467" y="624192"/>
            <a:ext cx="13065001" cy="701716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algn="l" defTabSz="137140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4400" b="1" kern="1200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s-ES" dirty="0">
                <a:solidFill>
                  <a:srgbClr val="23AAD5"/>
                </a:solidFill>
              </a:rPr>
              <a:t>¿Cómo es nuestro modelo de evaluación?</a:t>
            </a:r>
          </a:p>
        </p:txBody>
      </p:sp>
    </p:spTree>
    <p:extLst>
      <p:ext uri="{BB962C8B-B14F-4D97-AF65-F5344CB8AC3E}">
        <p14:creationId xmlns:p14="http://schemas.microsoft.com/office/powerpoint/2010/main" val="132283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 descr="Reloj con relleno sólido">
            <a:extLst>
              <a:ext uri="{FF2B5EF4-FFF2-40B4-BE49-F238E27FC236}">
                <a16:creationId xmlns:a16="http://schemas.microsoft.com/office/drawing/2014/main" id="{E83618E4-2ACE-5250-C5E3-59D3DDBF7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6227" y="1056694"/>
            <a:ext cx="914400" cy="914400"/>
          </a:xfrm>
          <a:prstGeom prst="rect">
            <a:avLst/>
          </a:prstGeom>
        </p:spPr>
      </p:pic>
      <p:pic>
        <p:nvPicPr>
          <p:cNvPr id="11" name="Gráfico 10" descr="Insignia de seguir con relleno sólido">
            <a:extLst>
              <a:ext uri="{FF2B5EF4-FFF2-40B4-BE49-F238E27FC236}">
                <a16:creationId xmlns:a16="http://schemas.microsoft.com/office/drawing/2014/main" id="{5BD7F091-6EE9-381C-0239-303BBB407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54011" y="1383268"/>
            <a:ext cx="914400" cy="914400"/>
          </a:xfrm>
          <a:prstGeom prst="rect">
            <a:avLst/>
          </a:prstGeom>
        </p:spPr>
      </p:pic>
      <p:pic>
        <p:nvPicPr>
          <p:cNvPr id="14" name="Gráfico 13" descr="Reloj con relleno sólido">
            <a:extLst>
              <a:ext uri="{FF2B5EF4-FFF2-40B4-BE49-F238E27FC236}">
                <a16:creationId xmlns:a16="http://schemas.microsoft.com/office/drawing/2014/main" id="{444AA5EE-F334-0B5C-8C8A-53E4295F4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329" y="525262"/>
            <a:ext cx="914400" cy="9144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C5A6573-1CE9-7C5D-EF6F-B401CC8F4FD9}"/>
              </a:ext>
            </a:extLst>
          </p:cNvPr>
          <p:cNvSpPr txBox="1"/>
          <p:nvPr/>
        </p:nvSpPr>
        <p:spPr>
          <a:xfrm>
            <a:off x="3755217" y="1894983"/>
            <a:ext cx="10777566" cy="5016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solidFill>
                  <a:schemeClr val="tx1"/>
                </a:solidFill>
                <a:latin typeface="Aptos"/>
              </a:rPr>
              <a:t>PUNTUACIONES</a:t>
            </a:r>
          </a:p>
          <a:p>
            <a:pPr algn="ctr"/>
            <a:endParaRPr lang="es-ES" sz="3200" dirty="0">
              <a:solidFill>
                <a:schemeClr val="tx1"/>
              </a:solidFill>
              <a:latin typeface="Aptos"/>
            </a:endParaRPr>
          </a:p>
          <a:p>
            <a:pPr algn="ctr"/>
            <a:r>
              <a:rPr lang="es-ES" sz="3200" dirty="0">
                <a:solidFill>
                  <a:schemeClr val="tx1"/>
                </a:solidFill>
                <a:latin typeface="Aptos"/>
              </a:rPr>
              <a:t>A partir de este curso, la evaluación continua es sobre 15 puntos: </a:t>
            </a:r>
          </a:p>
          <a:p>
            <a:pPr algn="ctr"/>
            <a:endParaRPr lang="es-ES" sz="3200" dirty="0">
              <a:solidFill>
                <a:schemeClr val="tx1"/>
              </a:solidFill>
              <a:latin typeface="Aptos"/>
            </a:endParaRPr>
          </a:p>
          <a:p>
            <a:pPr algn="ctr"/>
            <a:r>
              <a:rPr lang="es-ES" sz="3200" dirty="0">
                <a:solidFill>
                  <a:schemeClr val="tx1"/>
                </a:solidFill>
                <a:latin typeface="Aptos"/>
              </a:rPr>
              <a:t>- </a:t>
            </a:r>
            <a:r>
              <a:rPr lang="es-ES" sz="3200" b="1" dirty="0">
                <a:solidFill>
                  <a:schemeClr val="tx1"/>
                </a:solidFill>
                <a:latin typeface="Aptos"/>
              </a:rPr>
              <a:t>Actividad Inicial/Complementaria</a:t>
            </a:r>
            <a:r>
              <a:rPr lang="es-ES" sz="3200" dirty="0">
                <a:solidFill>
                  <a:schemeClr val="tx1"/>
                </a:solidFill>
                <a:latin typeface="Aptos"/>
              </a:rPr>
              <a:t>: ¿¿?? puntos</a:t>
            </a:r>
          </a:p>
          <a:p>
            <a:pPr marL="457200" indent="-457200" algn="ctr">
              <a:buFontTx/>
              <a:buChar char="-"/>
            </a:pPr>
            <a:r>
              <a:rPr lang="es-ES" sz="3200" b="1" dirty="0">
                <a:solidFill>
                  <a:schemeClr val="tx1"/>
                </a:solidFill>
                <a:latin typeface="Aptos"/>
              </a:rPr>
              <a:t>Proyecto Transversal/Cuaderno del Tutor</a:t>
            </a:r>
            <a:r>
              <a:rPr lang="es-ES" sz="3200" dirty="0">
                <a:solidFill>
                  <a:schemeClr val="tx1"/>
                </a:solidFill>
                <a:latin typeface="Aptos"/>
              </a:rPr>
              <a:t>: ¿¿?? puntos</a:t>
            </a:r>
          </a:p>
          <a:p>
            <a:pPr marL="457200" indent="-457200" algn="ctr">
              <a:buFontTx/>
              <a:buChar char="-"/>
            </a:pPr>
            <a:r>
              <a:rPr lang="es-ES" sz="3200" b="1" dirty="0">
                <a:solidFill>
                  <a:schemeClr val="tx1"/>
                </a:solidFill>
                <a:latin typeface="Aptos"/>
              </a:rPr>
              <a:t>Test </a:t>
            </a:r>
            <a:r>
              <a:rPr lang="es-ES" sz="3200" b="1" dirty="0" err="1">
                <a:solidFill>
                  <a:schemeClr val="tx1"/>
                </a:solidFill>
                <a:latin typeface="Aptos"/>
              </a:rPr>
              <a:t>autoevaluables</a:t>
            </a:r>
            <a:r>
              <a:rPr lang="es-ES" sz="3200" b="1" dirty="0">
                <a:solidFill>
                  <a:schemeClr val="tx1"/>
                </a:solidFill>
                <a:latin typeface="Aptos"/>
              </a:rPr>
              <a:t> de cada tema </a:t>
            </a:r>
          </a:p>
          <a:p>
            <a:pPr marL="457200" indent="-457200" algn="ctr">
              <a:buFontTx/>
              <a:buChar char="-"/>
            </a:pPr>
            <a:r>
              <a:rPr lang="es-ES" sz="3200" b="1" dirty="0">
                <a:solidFill>
                  <a:schemeClr val="tx1"/>
                </a:solidFill>
                <a:latin typeface="Aptos"/>
              </a:rPr>
              <a:t>Asistencia a clase</a:t>
            </a:r>
            <a:r>
              <a:rPr lang="es-ES" sz="3200" dirty="0">
                <a:solidFill>
                  <a:schemeClr val="tx1"/>
                </a:solidFill>
                <a:latin typeface="Aptos"/>
              </a:rPr>
              <a:t>: 0,5 puntos por asistencia (computa hasta dos asistencias: 1 punto en total)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9D8DE0-F8BC-3499-8108-8D3AF9613976}"/>
              </a:ext>
            </a:extLst>
          </p:cNvPr>
          <p:cNvSpPr txBox="1">
            <a:spLocks/>
          </p:cNvSpPr>
          <p:nvPr/>
        </p:nvSpPr>
        <p:spPr>
          <a:xfrm>
            <a:off x="822467" y="624192"/>
            <a:ext cx="13065001" cy="701716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algn="l" defTabSz="137140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4400" b="1" kern="1200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s-ES" dirty="0">
                <a:solidFill>
                  <a:srgbClr val="23AAD5"/>
                </a:solidFill>
              </a:rPr>
              <a:t>¿Cómo es nuestro modelo de evaluación?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DDDBAAF-E629-92D5-3603-94657B3E7D7A}"/>
              </a:ext>
            </a:extLst>
          </p:cNvPr>
          <p:cNvSpPr txBox="1"/>
          <p:nvPr/>
        </p:nvSpPr>
        <p:spPr>
          <a:xfrm>
            <a:off x="16854495" y="9380043"/>
            <a:ext cx="1082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chemeClr val="tx2"/>
                </a:solidFill>
                <a:hlinkClick r:id="rId5" action="ppaction://hlinksldjump"/>
              </a:rPr>
              <a:t>Volver</a:t>
            </a:r>
            <a:endParaRPr lang="es-ES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277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15A600-AE1D-4BFD-8EDF-6B9BA050FF16}"/>
              </a:ext>
            </a:extLst>
          </p:cNvPr>
          <p:cNvSpPr/>
          <p:nvPr/>
        </p:nvSpPr>
        <p:spPr>
          <a:xfrm rot="5400000" flipH="1" flipV="1">
            <a:off x="4000498" y="-4000500"/>
            <a:ext cx="10287000" cy="1828800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rtlCol="0" anchor="ctr"/>
          <a:lstStyle/>
          <a:p>
            <a:pPr algn="ctr"/>
            <a:endParaRPr lang="es-E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3BD53-5175-44CA-97A3-0EB5C507D4A7}"/>
              </a:ext>
            </a:extLst>
          </p:cNvPr>
          <p:cNvSpPr txBox="1"/>
          <p:nvPr/>
        </p:nvSpPr>
        <p:spPr>
          <a:xfrm>
            <a:off x="685800" y="4212478"/>
            <a:ext cx="16071574" cy="2800753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pPr algn="ctr"/>
            <a:r>
              <a:rPr lang="es-ES_tradnl" sz="8800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¿Cómo es nuestro modelo de examen?</a:t>
            </a:r>
          </a:p>
        </p:txBody>
      </p:sp>
    </p:spTree>
    <p:extLst>
      <p:ext uri="{BB962C8B-B14F-4D97-AF65-F5344CB8AC3E}">
        <p14:creationId xmlns:p14="http://schemas.microsoft.com/office/powerpoint/2010/main" val="176676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 descr="Reloj con relleno sólido">
            <a:extLst>
              <a:ext uri="{FF2B5EF4-FFF2-40B4-BE49-F238E27FC236}">
                <a16:creationId xmlns:a16="http://schemas.microsoft.com/office/drawing/2014/main" id="{E83618E4-2ACE-5250-C5E3-59D3DDBF7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6227" y="1056694"/>
            <a:ext cx="914400" cy="914400"/>
          </a:xfrm>
          <a:prstGeom prst="rect">
            <a:avLst/>
          </a:prstGeom>
        </p:spPr>
      </p:pic>
      <p:pic>
        <p:nvPicPr>
          <p:cNvPr id="11" name="Gráfico 10" descr="Insignia de seguir con relleno sólido">
            <a:extLst>
              <a:ext uri="{FF2B5EF4-FFF2-40B4-BE49-F238E27FC236}">
                <a16:creationId xmlns:a16="http://schemas.microsoft.com/office/drawing/2014/main" id="{5BD7F091-6EE9-381C-0239-303BBB407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54011" y="1383268"/>
            <a:ext cx="914400" cy="914400"/>
          </a:xfrm>
          <a:prstGeom prst="rect">
            <a:avLst/>
          </a:prstGeom>
        </p:spPr>
      </p:pic>
      <p:pic>
        <p:nvPicPr>
          <p:cNvPr id="14" name="Gráfico 13" descr="Reloj con relleno sólido">
            <a:extLst>
              <a:ext uri="{FF2B5EF4-FFF2-40B4-BE49-F238E27FC236}">
                <a16:creationId xmlns:a16="http://schemas.microsoft.com/office/drawing/2014/main" id="{444AA5EE-F334-0B5C-8C8A-53E4295F4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329" y="525262"/>
            <a:ext cx="914400" cy="914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99D8DE0-F8BC-3499-8108-8D3AF9613976}"/>
              </a:ext>
            </a:extLst>
          </p:cNvPr>
          <p:cNvSpPr txBox="1">
            <a:spLocks/>
          </p:cNvSpPr>
          <p:nvPr/>
        </p:nvSpPr>
        <p:spPr>
          <a:xfrm>
            <a:off x="822467" y="624192"/>
            <a:ext cx="13065001" cy="701716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algn="l" defTabSz="137140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4400" b="1" kern="1200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s-ES" dirty="0">
                <a:solidFill>
                  <a:srgbClr val="23AAD5"/>
                </a:solidFill>
              </a:rPr>
              <a:t>¿Cómo es nuestro modelo de examen?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7DAC60-EF0F-CBD5-CE9E-4608FB3EADB1}"/>
              </a:ext>
            </a:extLst>
          </p:cNvPr>
          <p:cNvSpPr txBox="1"/>
          <p:nvPr/>
        </p:nvSpPr>
        <p:spPr>
          <a:xfrm>
            <a:off x="1118529" y="1752389"/>
            <a:ext cx="16277420" cy="70634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rtl="0"/>
            <a:r>
              <a:rPr lang="es-ES" sz="2400" b="1" dirty="0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Cómo es nuestro modelo de examen</a:t>
            </a:r>
            <a:endParaRPr lang="es-ES" sz="2400" dirty="0">
              <a:solidFill>
                <a:schemeClr val="accent1"/>
              </a:solidFill>
              <a:effectLst/>
              <a:latin typeface="Aptos" panose="020B0004020202020204" pitchFamily="34" charset="0"/>
            </a:endParaRPr>
          </a:p>
          <a:p>
            <a:pPr algn="ctr" rtl="0"/>
            <a:r>
              <a:rPr lang="es-ES" sz="2400" b="1" dirty="0">
                <a:effectLst/>
                <a:latin typeface="Aptos" panose="020B0004020202020204" pitchFamily="34" charset="0"/>
              </a:rPr>
              <a:t>100% práctico</a:t>
            </a:r>
          </a:p>
          <a:p>
            <a:pPr algn="ctr" rtl="0"/>
            <a:r>
              <a:rPr lang="es-ES" sz="2400" b="1" dirty="0">
                <a:effectLst/>
                <a:latin typeface="Aptos" panose="020B0004020202020204" pitchFamily="34" charset="0"/>
              </a:rPr>
              <a:t>Resolución de un caso práctico/diseño de un material didáctico</a:t>
            </a:r>
          </a:p>
          <a:p>
            <a:pPr algn="ctr" rtl="0"/>
            <a:r>
              <a:rPr lang="es-ES" sz="2400" dirty="0">
                <a:effectLst/>
                <a:latin typeface="Aptos" panose="020B0004020202020204" pitchFamily="34" charset="0"/>
              </a:rPr>
              <a:t>“El examen es una actividad más</a:t>
            </a:r>
            <a:r>
              <a:rPr lang="es-ES" sz="2400" b="1" dirty="0">
                <a:effectLst/>
                <a:latin typeface="Aptos" panose="020B0004020202020204" pitchFamily="34" charset="0"/>
              </a:rPr>
              <a:t>”</a:t>
            </a:r>
            <a:endParaRPr lang="es-ES" sz="2400" dirty="0">
              <a:effectLst/>
              <a:latin typeface="Aptos" panose="020B0004020202020204" pitchFamily="34" charset="0"/>
            </a:endParaRPr>
          </a:p>
          <a:p>
            <a:pPr algn="ctr" rtl="0"/>
            <a:r>
              <a:rPr lang="es-ES" sz="2400" dirty="0">
                <a:effectLst/>
                <a:latin typeface="Aptos" panose="020B0004020202020204" pitchFamily="34" charset="0"/>
              </a:rPr>
              <a:t> </a:t>
            </a:r>
          </a:p>
          <a:p>
            <a:pPr rtl="0"/>
            <a:r>
              <a:rPr lang="es-ES" sz="2400" dirty="0">
                <a:effectLst/>
                <a:latin typeface="Aptos" panose="020B0004020202020204" pitchFamily="34" charset="0"/>
              </a:rPr>
              <a:t> </a:t>
            </a:r>
            <a:endParaRPr lang="es-ES" sz="2000" dirty="0">
              <a:effectLst/>
              <a:latin typeface="Aptos" panose="020B0004020202020204" pitchFamily="34" charset="0"/>
            </a:endParaRPr>
          </a:p>
          <a:p>
            <a:pPr algn="just" rtl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2000" dirty="0">
                <a:effectLst/>
                <a:latin typeface="Aptos" panose="020B0004020202020204" pitchFamily="34" charset="0"/>
              </a:rPr>
              <a:t>La prueba final que realizarán los estudiantes mantendrá la orientación práctica que tienen las sesiones presenciales-virtuales y las actividades planteadas en la evaluación continua. Por eso, </a:t>
            </a:r>
            <a:r>
              <a:rPr lang="es-ES" sz="2000" b="1" dirty="0">
                <a:effectLst/>
                <a:latin typeface="Aptos" panose="020B0004020202020204" pitchFamily="34" charset="0"/>
              </a:rPr>
              <a:t>no</a:t>
            </a:r>
            <a:r>
              <a:rPr lang="es-ES" sz="2000" dirty="0">
                <a:effectLst/>
                <a:latin typeface="Aptos" panose="020B0004020202020204" pitchFamily="34" charset="0"/>
              </a:rPr>
              <a:t> tendrán que memorizar para responder a preguntas sobre contenidos teóricos, ni a definiciones de conceptos que no van a usar en su día a día en el aula. Deben asumir esta prueba como una actividad más. </a:t>
            </a:r>
          </a:p>
          <a:p>
            <a:pPr marL="457200" algn="just" rtl="0"/>
            <a:r>
              <a:rPr lang="es-ES" sz="2000" dirty="0">
                <a:effectLst/>
                <a:latin typeface="Aptos" panose="020B0004020202020204" pitchFamily="34" charset="0"/>
              </a:rPr>
              <a:t> </a:t>
            </a:r>
          </a:p>
          <a:p>
            <a:pPr algn="just" rtl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2000" dirty="0">
                <a:latin typeface="Aptos" panose="020B0004020202020204" pitchFamily="34" charset="0"/>
              </a:rPr>
              <a:t>S</a:t>
            </a:r>
            <a:r>
              <a:rPr lang="es-ES" sz="2000" dirty="0">
                <a:effectLst/>
                <a:latin typeface="Aptos" panose="020B0004020202020204" pitchFamily="34" charset="0"/>
              </a:rPr>
              <a:t>e encontrará</a:t>
            </a:r>
            <a:r>
              <a:rPr lang="es-ES" sz="2000" dirty="0">
                <a:latin typeface="Aptos" panose="020B0004020202020204" pitchFamily="34" charset="0"/>
              </a:rPr>
              <a:t>n</a:t>
            </a:r>
            <a:r>
              <a:rPr lang="es-ES" sz="2000" dirty="0">
                <a:effectLst/>
                <a:latin typeface="Aptos" panose="020B0004020202020204" pitchFamily="34" charset="0"/>
              </a:rPr>
              <a:t> con </a:t>
            </a:r>
            <a:r>
              <a:rPr lang="es-ES" sz="2000" b="1" dirty="0">
                <a:effectLst/>
                <a:latin typeface="Aptos" panose="020B0004020202020204" pitchFamily="34" charset="0"/>
              </a:rPr>
              <a:t>dos opciones,</a:t>
            </a:r>
            <a:r>
              <a:rPr lang="es-ES" sz="2000" dirty="0">
                <a:effectLst/>
                <a:latin typeface="Aptos" panose="020B0004020202020204" pitchFamily="34" charset="0"/>
              </a:rPr>
              <a:t> </a:t>
            </a:r>
            <a:r>
              <a:rPr lang="es-ES" sz="2000" b="1" dirty="0">
                <a:effectLst/>
                <a:latin typeface="Aptos" panose="020B0004020202020204" pitchFamily="34" charset="0"/>
              </a:rPr>
              <a:t>a escoger una</a:t>
            </a:r>
            <a:r>
              <a:rPr lang="es-ES" sz="2000" dirty="0">
                <a:effectLst/>
                <a:latin typeface="Aptos" panose="020B0004020202020204" pitchFamily="34" charset="0"/>
              </a:rPr>
              <a:t>; de este modo, podrán valorar qué caso/material prefieren resolver/diseñar. </a:t>
            </a:r>
          </a:p>
          <a:p>
            <a:pPr algn="just" rtl="0"/>
            <a:r>
              <a:rPr lang="es-ES" sz="2000" dirty="0">
                <a:effectLst/>
                <a:latin typeface="Aptos" panose="020B0004020202020204" pitchFamily="34" charset="0"/>
              </a:rPr>
              <a:t> </a:t>
            </a:r>
          </a:p>
          <a:p>
            <a:pPr algn="just" rtl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2000" dirty="0">
                <a:effectLst/>
                <a:latin typeface="Aptos" panose="020B0004020202020204" pitchFamily="34" charset="0"/>
              </a:rPr>
              <a:t>Cada opción consistirá en </a:t>
            </a:r>
            <a:r>
              <a:rPr lang="es-ES" sz="2000" b="1" dirty="0">
                <a:effectLst/>
                <a:latin typeface="Aptos" panose="020B0004020202020204" pitchFamily="34" charset="0"/>
              </a:rPr>
              <a:t>un supuesto práctico </a:t>
            </a:r>
            <a:r>
              <a:rPr lang="es-ES" sz="2000" dirty="0">
                <a:effectLst/>
                <a:latin typeface="Aptos" panose="020B0004020202020204" pitchFamily="34" charset="0"/>
              </a:rPr>
              <a:t>en el que proponemos que resuelvan un caso o diseñen un material/actividad (según la asignatura). Estos supuestos están divididos y guiados por una serie de apartados con una puntuación específica. De este modo, siempre pueden asegurar puntuación en algunos apartados, aunque otros los tengan más flojos. </a:t>
            </a:r>
          </a:p>
          <a:p>
            <a:pPr algn="just" rtl="0"/>
            <a:r>
              <a:rPr lang="es-ES" sz="2000" dirty="0">
                <a:effectLst/>
                <a:latin typeface="Aptos" panose="020B0004020202020204" pitchFamily="34" charset="0"/>
              </a:rPr>
              <a:t> </a:t>
            </a:r>
          </a:p>
          <a:p>
            <a:pPr algn="just" rtl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2000" dirty="0">
                <a:effectLst/>
                <a:latin typeface="Aptos" panose="020B0004020202020204" pitchFamily="34" charset="0"/>
              </a:rPr>
              <a:t> Los estudiantes </a:t>
            </a:r>
            <a:r>
              <a:rPr lang="es-ES" sz="2000" dirty="0">
                <a:latin typeface="Aptos" panose="020B0004020202020204" pitchFamily="34" charset="0"/>
              </a:rPr>
              <a:t>p</a:t>
            </a:r>
            <a:r>
              <a:rPr lang="es-ES" sz="2000" dirty="0">
                <a:effectLst/>
                <a:latin typeface="Aptos" panose="020B0004020202020204" pitchFamily="34" charset="0"/>
              </a:rPr>
              <a:t>odrán consultar el modelo de examen de tu asignatura en el apartado “Documentación” del aula virtual. </a:t>
            </a:r>
          </a:p>
          <a:p>
            <a:pPr algn="just" rtl="0"/>
            <a:r>
              <a:rPr lang="es-ES" sz="2000" dirty="0">
                <a:effectLst/>
                <a:latin typeface="Aptos" panose="020B0004020202020204" pitchFamily="34" charset="0"/>
              </a:rPr>
              <a:t> </a:t>
            </a:r>
          </a:p>
          <a:p>
            <a:pPr algn="just" rtl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2000" dirty="0">
                <a:effectLst/>
                <a:latin typeface="Aptos" panose="020B0004020202020204" pitchFamily="34" charset="0"/>
              </a:rPr>
              <a:t>La </a:t>
            </a:r>
            <a:r>
              <a:rPr lang="es-ES" sz="2000" b="1" dirty="0">
                <a:effectLst/>
                <a:latin typeface="Aptos" panose="020B0004020202020204" pitchFamily="34" charset="0"/>
              </a:rPr>
              <a:t>tasa de éxito</a:t>
            </a:r>
            <a:r>
              <a:rPr lang="es-ES" sz="2000" dirty="0">
                <a:effectLst/>
                <a:latin typeface="Aptos" panose="020B0004020202020204" pitchFamily="34" charset="0"/>
              </a:rPr>
              <a:t> en los exámenes se sitúa en el 99,5% </a:t>
            </a:r>
          </a:p>
          <a:p>
            <a:pPr rtl="0">
              <a:spcAft>
                <a:spcPts val="600"/>
              </a:spcAft>
            </a:pPr>
            <a:r>
              <a:rPr lang="es-ES" sz="2400" dirty="0">
                <a:solidFill>
                  <a:srgbClr val="0070C0"/>
                </a:solidFill>
                <a:effectLst/>
                <a:latin typeface="Aptos" panose="020B0004020202020204" pitchFamily="34" charset="0"/>
              </a:rPr>
              <a:t> </a:t>
            </a:r>
            <a:endParaRPr lang="es-ES" sz="2400" dirty="0">
              <a:effectLst/>
              <a:latin typeface="Aptos" panose="020B00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31BAEBC-F3D7-5573-AB37-FE11AA4D4357}"/>
              </a:ext>
            </a:extLst>
          </p:cNvPr>
          <p:cNvSpPr txBox="1"/>
          <p:nvPr/>
        </p:nvSpPr>
        <p:spPr>
          <a:xfrm>
            <a:off x="16854495" y="9380043"/>
            <a:ext cx="1082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chemeClr val="tx2"/>
                </a:solidFill>
                <a:hlinkClick r:id="rId5" action="ppaction://hlinksldjump"/>
              </a:rPr>
              <a:t>Volver</a:t>
            </a:r>
            <a:endParaRPr lang="es-ES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875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15A600-AE1D-4BFD-8EDF-6B9BA050FF16}"/>
              </a:ext>
            </a:extLst>
          </p:cNvPr>
          <p:cNvSpPr/>
          <p:nvPr/>
        </p:nvSpPr>
        <p:spPr>
          <a:xfrm rot="5400000" flipH="1" flipV="1">
            <a:off x="4000498" y="-4000500"/>
            <a:ext cx="10287000" cy="1828800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rtlCol="0" anchor="ctr"/>
          <a:lstStyle/>
          <a:p>
            <a:pPr algn="ctr"/>
            <a:endParaRPr lang="es-E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3BD53-5175-44CA-97A3-0EB5C507D4A7}"/>
              </a:ext>
            </a:extLst>
          </p:cNvPr>
          <p:cNvSpPr txBox="1"/>
          <p:nvPr/>
        </p:nvSpPr>
        <p:spPr>
          <a:xfrm>
            <a:off x="685800" y="4212478"/>
            <a:ext cx="16071574" cy="1446536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pPr algn="ctr"/>
            <a:r>
              <a:rPr lang="es-ES_tradnl" sz="8800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Calendario del PER</a:t>
            </a:r>
          </a:p>
        </p:txBody>
      </p:sp>
    </p:spTree>
    <p:extLst>
      <p:ext uri="{BB962C8B-B14F-4D97-AF65-F5344CB8AC3E}">
        <p14:creationId xmlns:p14="http://schemas.microsoft.com/office/powerpoint/2010/main" val="21022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0307A5-8A5B-409F-BB87-AB0B8993ED38}"/>
              </a:ext>
            </a:extLst>
          </p:cNvPr>
          <p:cNvSpPr txBox="1">
            <a:spLocks/>
          </p:cNvSpPr>
          <p:nvPr/>
        </p:nvSpPr>
        <p:spPr>
          <a:xfrm>
            <a:off x="781628" y="650582"/>
            <a:ext cx="9102020" cy="701716"/>
          </a:xfrm>
          <a:prstGeom prst="rect">
            <a:avLst/>
          </a:prstGeom>
          <a:noFill/>
        </p:spPr>
        <p:txBody>
          <a:bodyPr wrap="square" lIns="91428" tIns="45713" rIns="91428" bIns="45713" rtlCol="0" anchor="t">
            <a:spAutoFit/>
          </a:bodyPr>
          <a:lstStyle>
            <a:lvl1pPr algn="l" defTabSz="137140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4400" b="1" kern="1200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s-ES" dirty="0">
                <a:solidFill>
                  <a:srgbClr val="23AAD5"/>
                </a:solidFill>
                <a:ea typeface="Roboto Condensed"/>
              </a:rPr>
              <a:t>Calendario PER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E550C3-2DD3-9995-E1FF-871173154F2E}"/>
              </a:ext>
            </a:extLst>
          </p:cNvPr>
          <p:cNvSpPr txBox="1"/>
          <p:nvPr/>
        </p:nvSpPr>
        <p:spPr>
          <a:xfrm>
            <a:off x="1930094" y="2412715"/>
            <a:ext cx="6096306" cy="4001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3200" b="1" dirty="0">
                <a:solidFill>
                  <a:schemeClr val="accent3"/>
                </a:solidFill>
                <a:cs typeface="Segoe UI"/>
              </a:rPr>
              <a:t>Fechas clave:</a:t>
            </a:r>
            <a:r>
              <a:rPr lang="es-ES" sz="3200" b="1" dirty="0">
                <a:solidFill>
                  <a:schemeClr val="accent3"/>
                </a:solidFill>
                <a:cs typeface="Calibri"/>
              </a:rPr>
              <a:t> </a:t>
            </a:r>
          </a:p>
          <a:p>
            <a:pPr algn="just"/>
            <a:endParaRPr lang="es-ES" sz="2400" b="1" dirty="0">
              <a:solidFill>
                <a:srgbClr val="333333"/>
              </a:solidFill>
              <a:cs typeface="Calibri"/>
            </a:endParaRPr>
          </a:p>
          <a:p>
            <a:pPr marL="342900" indent="-342900" algn="just">
              <a:spcAft>
                <a:spcPts val="1200"/>
              </a:spcAft>
              <a:buFont typeface="Calibri"/>
              <a:buChar char="-"/>
            </a:pPr>
            <a:r>
              <a:rPr lang="es-ES" sz="2400" b="1" dirty="0">
                <a:solidFill>
                  <a:srgbClr val="333333"/>
                </a:solidFill>
                <a:cs typeface="Segoe UI"/>
              </a:rPr>
              <a:t>14 de septiembre de 2026:</a:t>
            </a:r>
            <a:r>
              <a:rPr lang="es-ES" sz="2400" dirty="0">
                <a:solidFill>
                  <a:srgbClr val="333333"/>
                </a:solidFill>
                <a:cs typeface="Segoe UI"/>
              </a:rPr>
              <a:t> inicio de docencia</a:t>
            </a:r>
            <a:r>
              <a:rPr lang="es-ES" sz="2400" dirty="0">
                <a:solidFill>
                  <a:srgbClr val="333333"/>
                </a:solidFill>
                <a:cs typeface="Calibri"/>
              </a:rPr>
              <a:t> </a:t>
            </a:r>
          </a:p>
          <a:p>
            <a:pPr marL="342900" indent="-342900" algn="just">
              <a:spcAft>
                <a:spcPts val="1200"/>
              </a:spcAft>
              <a:buFont typeface="Calibri"/>
              <a:buChar char="-"/>
            </a:pPr>
            <a:r>
              <a:rPr lang="es-ES" sz="2400" b="1" dirty="0">
                <a:solidFill>
                  <a:srgbClr val="333333"/>
                </a:solidFill>
                <a:cs typeface="Segoe UI"/>
              </a:rPr>
              <a:t>18 de diciembre: </a:t>
            </a:r>
            <a:r>
              <a:rPr lang="es-ES" sz="2400" dirty="0">
                <a:solidFill>
                  <a:srgbClr val="333333"/>
                </a:solidFill>
                <a:cs typeface="Segoe UI"/>
              </a:rPr>
              <a:t>fin de las Clases Problema con temario</a:t>
            </a:r>
            <a:r>
              <a:rPr lang="es-ES" sz="2400" dirty="0">
                <a:solidFill>
                  <a:srgbClr val="333333"/>
                </a:solidFill>
                <a:cs typeface="Calibri"/>
              </a:rPr>
              <a:t> </a:t>
            </a:r>
          </a:p>
          <a:p>
            <a:pPr marL="342900" indent="-342900" algn="just">
              <a:spcAft>
                <a:spcPts val="1200"/>
              </a:spcAft>
              <a:buFont typeface="Calibri"/>
              <a:buChar char="-"/>
            </a:pPr>
            <a:r>
              <a:rPr lang="es-ES" sz="2400" b="1" dirty="0">
                <a:solidFill>
                  <a:srgbClr val="333333"/>
                </a:solidFill>
                <a:cs typeface="Segoe UI"/>
              </a:rPr>
              <a:t>21 diciembre – 15 enero:</a:t>
            </a:r>
            <a:r>
              <a:rPr lang="es-ES" sz="2400" dirty="0">
                <a:solidFill>
                  <a:srgbClr val="333333"/>
                </a:solidFill>
                <a:cs typeface="Segoe UI"/>
              </a:rPr>
              <a:t> sesiones de Clases de repaso</a:t>
            </a:r>
            <a:r>
              <a:rPr lang="es-ES" sz="2400" dirty="0">
                <a:solidFill>
                  <a:srgbClr val="333333"/>
                </a:solidFill>
                <a:cs typeface="Calibri"/>
              </a:rPr>
              <a:t> </a:t>
            </a:r>
          </a:p>
          <a:p>
            <a:pPr marL="342900" indent="-342900" algn="just">
              <a:spcAft>
                <a:spcPts val="1200"/>
              </a:spcAft>
              <a:buFont typeface="Calibri"/>
              <a:buChar char="-"/>
            </a:pPr>
            <a:r>
              <a:rPr lang="es-ES" sz="2400" b="1" dirty="0">
                <a:solidFill>
                  <a:srgbClr val="333333"/>
                </a:solidFill>
                <a:cs typeface="Segoe UI"/>
              </a:rPr>
              <a:t>22 al 24 de enero: </a:t>
            </a:r>
            <a:r>
              <a:rPr lang="es-ES" sz="2400" dirty="0">
                <a:solidFill>
                  <a:srgbClr val="333333"/>
                </a:solidFill>
                <a:cs typeface="Segoe UI"/>
              </a:rPr>
              <a:t>exámenes</a:t>
            </a:r>
            <a:r>
              <a:rPr lang="es-ES" sz="2400" dirty="0">
                <a:solidFill>
                  <a:srgbClr val="333333"/>
                </a:solidFill>
                <a:cs typeface="Calibri"/>
              </a:rPr>
              <a:t> 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BFCA486-1A34-6C49-1DD8-D75F85E75245}"/>
              </a:ext>
            </a:extLst>
          </p:cNvPr>
          <p:cNvSpPr txBox="1"/>
          <p:nvPr/>
        </p:nvSpPr>
        <p:spPr>
          <a:xfrm>
            <a:off x="16854495" y="9380043"/>
            <a:ext cx="1082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chemeClr val="tx2"/>
                </a:solidFill>
                <a:hlinkClick r:id="rId2" action="ppaction://hlinksldjump"/>
              </a:rPr>
              <a:t>Volver</a:t>
            </a:r>
            <a:endParaRPr lang="es-ES" sz="2000">
              <a:solidFill>
                <a:schemeClr val="tx2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AABE697-FD04-27E6-CD6A-5B3A2411E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970" y="625336"/>
            <a:ext cx="8878978" cy="871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36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81702" y="4589502"/>
            <a:ext cx="6324600" cy="1107981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pPr algn="ctr"/>
            <a:r>
              <a:rPr lang="es-ES_tradnl" sz="6600" b="1">
                <a:solidFill>
                  <a:schemeClr val="accent1"/>
                </a:solidFill>
                <a:ea typeface="Lato Semibold" panose="020F0502020204030203" pitchFamily="34" charset="0"/>
                <a:cs typeface="Lato Semibold" panose="020F0502020204030203" pitchFamily="34" charset="0"/>
              </a:rPr>
              <a:t>muchas </a:t>
            </a:r>
            <a:r>
              <a:rPr lang="es-ES_tradnl" sz="6600" b="1">
                <a:solidFill>
                  <a:schemeClr val="accent5"/>
                </a:solidFill>
                <a:ea typeface="Lato Semibold" panose="020F0502020204030203" pitchFamily="34" charset="0"/>
                <a:cs typeface="Lato Semibold" panose="020F0502020204030203" pitchFamily="34" charset="0"/>
              </a:rPr>
              <a:t>gracias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509588" y="4457700"/>
            <a:ext cx="685800" cy="685800"/>
            <a:chOff x="6324600" y="4114799"/>
            <a:chExt cx="685800" cy="685800"/>
          </a:xfrm>
        </p:grpSpPr>
        <p:cxnSp>
          <p:nvCxnSpPr>
            <p:cNvPr id="6" name="Straight Connector 5"/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 rot="10800000">
            <a:off x="12010302" y="5143500"/>
            <a:ext cx="685800" cy="685800"/>
            <a:chOff x="6324600" y="4114799"/>
            <a:chExt cx="685800" cy="685800"/>
          </a:xfrm>
        </p:grpSpPr>
        <p:cxnSp>
          <p:nvCxnSpPr>
            <p:cNvPr id="9" name="Straight Connector 8"/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777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9F514D39C3AC4DBE3343CBBA38381C" ma:contentTypeVersion="3" ma:contentTypeDescription="Crear nuevo documento." ma:contentTypeScope="" ma:versionID="90d76e4bd3ebfa7a1b253cf4d2bfbbba">
  <xsd:schema xmlns:xsd="http://www.w3.org/2001/XMLSchema" xmlns:xs="http://www.w3.org/2001/XMLSchema" xmlns:p="http://schemas.microsoft.com/office/2006/metadata/properties" xmlns:ns2="ac028f8b-503b-4ab6-a46f-4cdb3ba6eb37" targetNamespace="http://schemas.microsoft.com/office/2006/metadata/properties" ma:root="true" ma:fieldsID="925352b59b735f55e4f0f129c8a2d63e" ns2:_="">
    <xsd:import namespace="ac028f8b-503b-4ab6-a46f-4cdb3ba6eb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028f8b-503b-4ab6-a46f-4cdb3ba6eb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110C50-9D6E-492A-BD44-170BEC25D3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61AFDB-5B1F-4FAF-A547-89ADE1EE951F}">
  <ds:schemaRefs>
    <ds:schemaRef ds:uri="http://purl.org/dc/terms/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0a70e875-3d35-4be2-921f-7117c31bab9b"/>
    <ds:schemaRef ds:uri="f622c45a-559b-4cc2-b9f2-be60beeb3f6f"/>
    <ds:schemaRef ds:uri="http://purl.org/dc/dcmitype/"/>
    <ds:schemaRef ds:uri="ec5d4017-4d1c-428c-890d-873abef1a275"/>
    <ds:schemaRef ds:uri="41b91d11-1ee4-44e6-a572-f025df7bc1de"/>
  </ds:schemaRefs>
</ds:datastoreItem>
</file>

<file path=customXml/itemProps3.xml><?xml version="1.0" encoding="utf-8"?>
<ds:datastoreItem xmlns:ds="http://schemas.openxmlformats.org/officeDocument/2006/customXml" ds:itemID="{C9751EC7-BFB5-4B58-8905-B8B88423B842}"/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1009</Words>
  <Application>Microsoft Office PowerPoint</Application>
  <PresentationFormat>Personalizado</PresentationFormat>
  <Paragraphs>137</Paragraphs>
  <Slides>18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34" baseType="lpstr">
      <vt:lpstr>Aptos</vt:lpstr>
      <vt:lpstr>Arial</vt:lpstr>
      <vt:lpstr>Calibri</vt:lpstr>
      <vt:lpstr>Courier New</vt:lpstr>
      <vt:lpstr>Franklin Gothic Book</vt:lpstr>
      <vt:lpstr>Franklin Gothic Medium</vt:lpstr>
      <vt:lpstr>Lato Semibold</vt:lpstr>
      <vt:lpstr>Libre Franklin</vt:lpstr>
      <vt:lpstr>Lucida Grande</vt:lpstr>
      <vt:lpstr>Nunito Bold</vt:lpstr>
      <vt:lpstr>Roboto Condensed</vt:lpstr>
      <vt:lpstr>Segoe UI</vt:lpstr>
      <vt:lpstr>Times New Roman</vt:lpstr>
      <vt:lpstr>Wingdings</vt:lpstr>
      <vt:lpstr>TEAM SLIDES</vt:lpstr>
      <vt:lpstr>1_TEAM SLIDES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>unir.net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UNIR</dc:creator>
  <cp:keywords/>
  <dc:description/>
  <cp:lastModifiedBy>Estefanía Hita Egea</cp:lastModifiedBy>
  <cp:revision>17</cp:revision>
  <dcterms:created xsi:type="dcterms:W3CDTF">2015-01-20T11:47:48Z</dcterms:created>
  <dcterms:modified xsi:type="dcterms:W3CDTF">2026-09-13T18:55:57Z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0x010100E09F514D39C3AC4DBE3343CBBA38381C</vt:lpwstr>
  </property>
  <property fmtid="{D5CDD505-2E9C-101B-9397-08002B2CF9AE}" pid="3" name="MediaServiceImageTags">
    <vt:lpwstr/>
  </property>
  <property fmtid="{D5CDD505-2E9C-101B-9397-08002B2CF9AE}" pid="4" name="MSIP_Label_0361ecad-3f61-4749-aa5c-87fde47ef9ad_Enabled">
    <vt:lpwstr>True</vt:lpwstr>
  </property>
  <property fmtid="{D5CDD505-2E9C-101B-9397-08002B2CF9AE}" pid="5" name="MSIP_Label_0361ecad-3f61-4749-aa5c-87fde47ef9ad_SiteId">
    <vt:lpwstr>22c8b4a4-d926-43b2-bcc7-87b998590b47</vt:lpwstr>
  </property>
  <property fmtid="{D5CDD505-2E9C-101B-9397-08002B2CF9AE}" pid="6" name="MSIP_Label_0361ecad-3f61-4749-aa5c-87fde47ef9ad_SetDate">
    <vt:lpwstr>2024-09-10T08:44:39Z</vt:lpwstr>
  </property>
  <property fmtid="{D5CDD505-2E9C-101B-9397-08002B2CF9AE}" pid="7" name="MSIP_Label_0361ecad-3f61-4749-aa5c-87fde47ef9ad_Name">
    <vt:lpwstr>Publico</vt:lpwstr>
  </property>
  <property fmtid="{D5CDD505-2E9C-101B-9397-08002B2CF9AE}" pid="8" name="MSIP_Label_0361ecad-3f61-4749-aa5c-87fde47ef9ad_ActionId">
    <vt:lpwstr>18dde5a2-b4d0-4bc4-93b4-84cba91a9ee1</vt:lpwstr>
  </property>
  <property fmtid="{D5CDD505-2E9C-101B-9397-08002B2CF9AE}" pid="9" name="MSIP_Label_0361ecad-3f61-4749-aa5c-87fde47ef9ad_Removed">
    <vt:lpwstr>False</vt:lpwstr>
  </property>
  <property fmtid="{D5CDD505-2E9C-101B-9397-08002B2CF9AE}" pid="10" name="MSIP_Label_0361ecad-3f61-4749-aa5c-87fde47ef9ad_Extended_MSFT_Method">
    <vt:lpwstr>Standard</vt:lpwstr>
  </property>
  <property fmtid="{D5CDD505-2E9C-101B-9397-08002B2CF9AE}" pid="11" name="Sensitivity">
    <vt:lpwstr>Publico</vt:lpwstr>
  </property>
</Properties>
</file>